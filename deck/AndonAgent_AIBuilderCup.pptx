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72" r:id="rId2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73" r:id="rId29"/>
    <p:sldId id="266" r:id="rId16"/>
    <p:sldId id="267" r:id="rId17"/>
    <p:sldId id="274" r:id="rId30"/>
    <p:sldId id="275" r:id="rId31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Relationship Id="rId28" Type="http://schemas.openxmlformats.org/officeDocument/2006/relationships/slide" Target="slides/slide3.xml"/><Relationship Id="rId29" Type="http://schemas.openxmlformats.org/officeDocument/2006/relationships/slide" Target="slides/slide11.xml"/><Relationship Id="rId30" Type="http://schemas.openxmlformats.org/officeDocument/2006/relationships/slide" Target="slides/slide14.xml"/><Relationship Id="rId31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Andon Agent (S1)</c:v>
                </c:pt>
              </c:strCache>
            </c:strRef>
          </c:tx>
          <c:spPr>
            <a:solidFill>
              <a:srgbClr val="0E7490"/>
            </a:solidFill>
          </c:spPr>
          <c:cat>
            <c:strRef>
              <c:f>Sheet1!$A$2:$A$3</c:f>
              <c:strCache>
                <c:ptCount val="2"/>
                <c:pt idx="0">
                  <c:v>S-set · synthetic, n=60</c:v>
                </c:pt>
                <c:pt idx="1">
                  <c:v>R-set · real signals, n=17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0.98</c:v>
                </c:pt>
                <c:pt idx="1">
                  <c:v>0.76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Single long prompt (B1)</c:v>
                </c:pt>
              </c:strCache>
            </c:strRef>
          </c:tx>
          <c:spPr>
            <a:solidFill>
              <a:srgbClr val="9CA3AF"/>
            </a:solidFill>
          </c:spPr>
          <c:cat>
            <c:strRef>
              <c:f>Sheet1!$A$2:$A$3</c:f>
              <c:strCache>
                <c:ptCount val="2"/>
                <c:pt idx="0">
                  <c:v>S-set · synthetic, n=60</c:v>
                </c:pt>
                <c:pt idx="1">
                  <c:v>R-set · real signals, n=17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0.92</c:v>
                </c:pt>
                <c:pt idx="1">
                  <c:v>0.59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Classical (B2)</c:v>
                </c:pt>
              </c:strCache>
            </c:strRef>
          </c:tx>
          <c:spPr>
            <a:solidFill>
              <a:srgbClr val="D1D5DB"/>
            </a:solidFill>
          </c:spPr>
          <c:cat>
            <c:strRef>
              <c:f>Sheet1!$A$2:$A$3</c:f>
              <c:strCache>
                <c:ptCount val="2"/>
                <c:pt idx="0">
                  <c:v>S-set · synthetic, n=60</c:v>
                </c:pt>
                <c:pt idx="1">
                  <c:v>R-set · real signals, n=17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0.15</c:v>
                </c:pt>
                <c:pt idx="1">
                  <c:v>0.24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850" b="1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85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E5E7EB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Theme string is exact. Team name 'Andon Agent' is a placeholder unless a registered team name exists.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$38,333/min = $2.3M/h ÷ 60, Siemens, The True Cost of Downtime 2024, p.2 (large automotive plant)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.jpg"/><Relationship Id="rId6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7.jpg"/><Relationship Id="rId6" Type="http://schemas.openxmlformats.org/officeDocument/2006/relationships/image" Target="../media/image8.jpg"/><Relationship Id="rId7" Type="http://schemas.openxmlformats.org/officeDocument/2006/relationships/image" Target="../media/image9.jpg"/><Relationship Id="rId8" Type="http://schemas.openxmlformats.org/officeDocument/2006/relationships/image" Target="../media/image10.jpg"/><Relationship Id="rId9" Type="http://schemas.openxmlformats.org/officeDocument/2006/relationships/image" Target="../media/image11.jpg"/><Relationship Id="rId10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chart" Target="../charts/char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hyperlink" Target="https://github.com/Likhith-BlueLotus/andon-agent" TargetMode="External"/><Relationship Id="rId6" Type="http://schemas.openxmlformats.org/officeDocument/2006/relationships/hyperlink" Target="https://andon-agent-b9c77.web.app" TargetMode="External"/><Relationship Id="rId7" Type="http://schemas.openxmlformats.org/officeDocument/2006/relationships/hyperlink" Target="https://andon-api-359520289475.asia-south1.run.app/health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724912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 b="1">
                <a:latin typeface="Arial"/>
                <a:ea typeface="Arial"/>
                <a:cs typeface="Arial"/>
                <a:sym typeface="Arial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>
                <a:latin typeface="Arial"/>
              </a:rPr>
              <a:t/>
            </a:r>
            <a:endParaRPr sz="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500" b="1">
                <a:latin typeface="Arial"/>
                <a:ea typeface="Arial"/>
                <a:cs typeface="Arial"/>
                <a:sym typeface="Arial"/>
              </a:rPr>
              <a:t>Team name: </a:t>
            </a:r>
            <a:r>
              <a:rPr sz="150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Andon Agent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500" b="1">
                <a:latin typeface="Arial"/>
                <a:ea typeface="Arial"/>
                <a:cs typeface="Arial"/>
                <a:sym typeface="Arial"/>
              </a:rPr>
              <a:t>Team leader name: </a:t>
            </a:r>
            <a:r>
              <a:rPr sz="150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Likhith M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500" b="1">
                <a:latin typeface="Arial"/>
                <a:ea typeface="Arial"/>
                <a:cs typeface="Arial"/>
                <a:sym typeface="Arial"/>
              </a:rPr>
              <a:t>Problem Statement: </a:t>
            </a:r>
            <a:r>
              <a:rPr sz="150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Manufacturing: Intelligent Operations &amp; Industrial Efficiency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9144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Arial"/>
              </a:rPr>
              <a:t/>
            </a:r>
            <a:r>
              <a:rPr sz="12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When an automotive assembly line stops, the alarm often fires downstream of the real cause. Find a verified root cause fast and hand a human a safety-gated work order, without touching a machine.</a:t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74320" y="548640"/>
            <a:ext cx="85953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Brief about the idea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74320" y="1051560"/>
            <a:ext cx="2788920" cy="1417320"/>
          </a:xfrm>
          <a:prstGeom prst="roundRect">
            <a:avLst>
              <a:gd name="adj" fmla="val 6451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411480" y="1133856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BBF24"/>
                </a:solidFill>
                <a:latin typeface="Arial"/>
                <a:ea typeface="Arial"/>
                <a:cs typeface="Arial"/>
                <a:sym typeface="Arial"/>
              </a:rPr>
              <a:t>$2.3M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1480" y="1700784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lost per hour when a large automotive plant stops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11480" y="2157984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Siemens, The True Cost of Downtime 2024, p.2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74320" y="2606040"/>
            <a:ext cx="2788920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The problem</a:t>
            </a:r>
          </a:p>
          <a:p>
            <a:pPr algn="l"/>
            <a:r>
              <a:rPr sz="10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The andon alarm fires where the symptom shows (a weld cell starved of air), not where the cause is (a plant-air header upstream). Engineers stitch telemetry, alarms, shift notes and manuals together by hand while the line waits.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337560" y="1024128"/>
            <a:ext cx="5532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Andon Agent investigates a stopped line like a reliability engineer, </a:t>
            </a:r>
            <a:r>
              <a:rPr sz="125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then hands a human a verified root cause and a safety-gated draft work order.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337560" y="1664208"/>
            <a:ext cx="1737360" cy="1783080"/>
          </a:xfrm>
          <a:prstGeom prst="roundRect">
            <a:avLst>
              <a:gd name="adj" fmla="val 5263"/>
            </a:avLst>
          </a:prstGeom>
          <a:solidFill>
            <a:srgbClr val="E3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Oval 78"/>
          <p:cNvSpPr/>
          <p:nvPr/>
        </p:nvSpPr>
        <p:spPr>
          <a:xfrm>
            <a:off x="3447288" y="1764792"/>
            <a:ext cx="310896" cy="3108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31335" y="179222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Investigate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447288" y="2176272"/>
            <a:ext cx="1536192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Commander plans competing checks; agents run change points, spectra and machine-sound analysis on telemetry, read alarms and shift notes, cite the manual.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5074920" y="2560320"/>
            <a:ext cx="137159" cy="0"/>
          </a:xfrm>
          <a:prstGeom prst="line">
            <a:avLst/>
          </a:prstGeom>
          <a:ln w="15875">
            <a:solidFill>
              <a:srgbClr val="4B5563"/>
            </a:solidFill>
            <a:tailEnd type="triangle" w="med" len="med"/>
          </a:ln>
        </p:spPr>
      </p:cxnSp>
      <p:sp>
        <p:nvSpPr>
          <p:cNvPr id="83" name="Rounded Rectangle 82"/>
          <p:cNvSpPr/>
          <p:nvPr/>
        </p:nvSpPr>
        <p:spPr>
          <a:xfrm>
            <a:off x="5212079" y="1664208"/>
            <a:ext cx="1737360" cy="1783080"/>
          </a:xfrm>
          <a:prstGeom prst="roundRect">
            <a:avLst>
              <a:gd name="adj" fmla="val 5263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5321807" y="1764792"/>
            <a:ext cx="310896" cy="310896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705855" y="179222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5803D"/>
                </a:solidFill>
                <a:latin typeface="Arial"/>
                <a:ea typeface="Arial"/>
                <a:cs typeface="Arial"/>
                <a:sym typeface="Arial"/>
              </a:rPr>
              <a:t>Verify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321807" y="2176272"/>
            <a:ext cx="1536192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Deterministic code (no LLM) re-runs every number, timestamp, quote and causal claim. Rejected claims are struck through, never hidden.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6949440" y="2560320"/>
            <a:ext cx="137159" cy="0"/>
          </a:xfrm>
          <a:prstGeom prst="line">
            <a:avLst/>
          </a:prstGeom>
          <a:ln w="15875">
            <a:solidFill>
              <a:srgbClr val="4B5563"/>
            </a:solidFill>
            <a:tailEnd type="triangle" w="med" len="med"/>
          </a:ln>
        </p:spPr>
      </p:cxnSp>
      <p:sp>
        <p:nvSpPr>
          <p:cNvPr id="88" name="Rounded Rectangle 87"/>
          <p:cNvSpPr/>
          <p:nvPr/>
        </p:nvSpPr>
        <p:spPr>
          <a:xfrm>
            <a:off x="7086600" y="1664208"/>
            <a:ext cx="1737360" cy="1783080"/>
          </a:xfrm>
          <a:prstGeom prst="roundRect">
            <a:avLst>
              <a:gd name="adj" fmla="val 5263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7196328" y="1764792"/>
            <a:ext cx="310896" cy="310896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580375" y="179222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Approve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196328" y="2176272"/>
            <a:ext cx="1536192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Draft work order with lockout/tagout steps quoted verbatim with page numbers. A named human approves; nothing touches a machine.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337560" y="361188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0.98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337560" y="3959352"/>
            <a:ext cx="1325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top-1 root cause, 60 synthetic scenarios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736592" y="361188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0.76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736592" y="3959352"/>
            <a:ext cx="1325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top-1, 17 real-signal scenarios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35624" y="361188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1 / 586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135624" y="3959352"/>
            <a:ext cx="1325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claims code could not back (vs 54 / 645)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534656" y="361188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≈ $0.11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534656" y="3959352"/>
            <a:ext cx="1325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per diagnosis, 81 s median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337560" y="4370832"/>
            <a:ext cx="5532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Eval run final_v2 (Gemini 3.8 Flash judge); 95% Wilson intervals on slide 13. Real public signals mapped onto a synthetic line, not real plant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74320" y="548640"/>
            <a:ext cx="85953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Who it serves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274320" y="1051560"/>
            <a:ext cx="2029968" cy="3429000"/>
          </a:xfrm>
          <a:prstGeom prst="roundRect">
            <a:avLst>
              <a:gd name="adj" fmla="val 4504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402336" y="1170432"/>
            <a:ext cx="365760" cy="365760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41247" y="1188720"/>
            <a:ext cx="1417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Line technician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02336" y="1691640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rPr>
              <a:t>PAIN TODAY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02336" y="1901952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Sent to the station that alarmed; safety steps live in a thick English manual.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47472" y="2697480"/>
            <a:ext cx="1883664" cy="1691640"/>
          </a:xfrm>
          <a:prstGeom prst="roundRect">
            <a:avLst>
              <a:gd name="adj" fmla="val 4324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420623" y="2761488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5803D"/>
                </a:solidFill>
                <a:latin typeface="Arial"/>
                <a:ea typeface="Arial"/>
                <a:cs typeface="Arial"/>
                <a:sym typeface="Arial"/>
              </a:rPr>
              <a:t>WHAT ANDON AGENT GIVES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20623" y="2980944"/>
            <a:ext cx="17373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/tech phone view: one card at a time, big verbatim LOTO checklist, voice note → shift note, work order in Hindi, Tamil, Bahasa Indonesia or Vietnamese beside the binding English text.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441448" y="1051560"/>
            <a:ext cx="2029968" cy="3429000"/>
          </a:xfrm>
          <a:prstGeom prst="roundRect">
            <a:avLst>
              <a:gd name="adj" fmla="val 4504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Oval 96"/>
          <p:cNvSpPr/>
          <p:nvPr/>
        </p:nvSpPr>
        <p:spPr>
          <a:xfrm>
            <a:off x="2569464" y="1170432"/>
            <a:ext cx="365760" cy="365760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008376" y="1188720"/>
            <a:ext cx="1417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Maintenance supervisor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569464" y="1691640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rPr>
              <a:t>PAIN TODAY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569464" y="1901952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Must approve repair work without seeing why the cause was chosen.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2514600" y="2697480"/>
            <a:ext cx="1883664" cy="1691640"/>
          </a:xfrm>
          <a:prstGeom prst="roundRect">
            <a:avLst>
              <a:gd name="adj" fmla="val 4324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2587752" y="2761488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5803D"/>
                </a:solidFill>
                <a:latin typeface="Arial"/>
                <a:ea typeface="Arial"/>
                <a:cs typeface="Arial"/>
                <a:sym typeface="Arial"/>
              </a:rPr>
              <a:t>WHAT ANDON AGENT GIVES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587752" y="2980944"/>
            <a:ext cx="17373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Ranked root cause with verified evidence, draft work order PENDING_APPROVAL, approval recorded with the approver's name in a mock CMMS.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4608576" y="1051560"/>
            <a:ext cx="2029968" cy="3429000"/>
          </a:xfrm>
          <a:prstGeom prst="roundRect">
            <a:avLst>
              <a:gd name="adj" fmla="val 4504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Oval 104"/>
          <p:cNvSpPr/>
          <p:nvPr/>
        </p:nvSpPr>
        <p:spPr>
          <a:xfrm>
            <a:off x="4736592" y="1170432"/>
            <a:ext cx="365760" cy="365760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175504" y="1188720"/>
            <a:ext cx="1417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Reliability engineer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736592" y="1691640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rPr>
              <a:t>PAIN TODAY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736592" y="1901952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Stitches historian exports, alarm logs, shift notes and manuals by hand.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4681728" y="2697480"/>
            <a:ext cx="1883664" cy="1691640"/>
          </a:xfrm>
          <a:prstGeom prst="roundRect">
            <a:avLst>
              <a:gd name="adj" fmla="val 4324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4754880" y="2761488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5803D"/>
                </a:solidFill>
                <a:latin typeface="Arial"/>
                <a:ea typeface="Arial"/>
                <a:cs typeface="Arial"/>
                <a:sym typeface="Arial"/>
              </a:rPr>
              <a:t>WHAT ANDON AGENT GIVES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754880" y="2980944"/>
            <a:ext cx="17373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Evidence drawer charts the telemetry behind every claim; change points, spectra, audio; upload your own CSV and investigate it.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775704" y="1051560"/>
            <a:ext cx="2029968" cy="3429000"/>
          </a:xfrm>
          <a:prstGeom prst="roundRect">
            <a:avLst>
              <a:gd name="adj" fmla="val 4504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Oval 112"/>
          <p:cNvSpPr/>
          <p:nvPr/>
        </p:nvSpPr>
        <p:spPr>
          <a:xfrm>
            <a:off x="6903720" y="1170432"/>
            <a:ext cx="365760" cy="365760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342631" y="1188720"/>
            <a:ext cx="1417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Plant manager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03720" y="1691640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rPr>
              <a:t>PAIN TODAY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03720" y="1901952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Every stopped minute is worth about $38,333 (Siemens $2.3M/h ÷ 60).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6848856" y="2697480"/>
            <a:ext cx="1883664" cy="1691640"/>
          </a:xfrm>
          <a:prstGeom prst="roundRect">
            <a:avLst>
              <a:gd name="adj" fmla="val 4324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6922008" y="2761488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5803D"/>
                </a:solidFill>
                <a:latin typeface="Arial"/>
                <a:ea typeface="Arial"/>
                <a:cs typeface="Arial"/>
                <a:sym typeface="Arial"/>
              </a:rPr>
              <a:t>WHAT ANDON AGENT GIVES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922008" y="2980944"/>
            <a:ext cx="17373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Cost per run on screen (≈ $0.11), append-only audit of every model call and human decision, no physical writes.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74320" y="548640"/>
            <a:ext cx="85953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Opportunities</a:t>
            </a:r>
            <a:r>
              <a:rPr sz="1100" b="0" i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 how it differs · how it solves · USP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10896" y="1060704"/>
            <a:ext cx="22585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/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642615" y="1060704"/>
            <a:ext cx="79552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Dashboards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511296" y="1060704"/>
            <a:ext cx="79552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Rule engines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79976" y="1060704"/>
            <a:ext cx="79552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RAG chatbot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212080" y="1024128"/>
            <a:ext cx="960120" cy="1993392"/>
          </a:xfrm>
          <a:prstGeom prst="roundRect">
            <a:avLst>
              <a:gd name="adj" fmla="val 5714"/>
            </a:avLst>
          </a:prstGeom>
          <a:solidFill>
            <a:srgbClr val="E3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5248656" y="1060704"/>
            <a:ext cx="8869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Andon Agent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74320" y="1349654"/>
            <a:ext cx="5897880" cy="7315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TextBox 86"/>
          <p:cNvSpPr txBox="1"/>
          <p:nvPr/>
        </p:nvSpPr>
        <p:spPr>
          <a:xfrm>
            <a:off x="310896" y="1371600"/>
            <a:ext cx="225856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Runs analytics on signals and machine sound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624327" y="1371600"/>
            <a:ext cx="83210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Charts only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493008" y="1371600"/>
            <a:ext cx="83210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361688" y="1371600"/>
            <a:ext cx="83210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230368" y="1371600"/>
            <a:ext cx="92354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15803D"/>
                </a:solidFill>
                <a:latin typeface="Arial"/>
                <a:ea typeface="Arial"/>
                <a:cs typeface="Arial"/>
                <a:sym typeface="Arial"/>
              </a:rPr>
              <a:t>Yes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74320" y="1678838"/>
            <a:ext cx="5897880" cy="7315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310896" y="1700784"/>
            <a:ext cx="225856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Forms competing hypotheses, ranks causes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624327" y="1700784"/>
            <a:ext cx="83210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493008" y="1700784"/>
            <a:ext cx="83210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Fixed rules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361688" y="1700784"/>
            <a:ext cx="83210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Partly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230368" y="1700784"/>
            <a:ext cx="92354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15803D"/>
                </a:solidFill>
                <a:latin typeface="Arial"/>
                <a:ea typeface="Arial"/>
                <a:cs typeface="Arial"/>
                <a:sym typeface="Arial"/>
              </a:rPr>
              <a:t>Yes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74320" y="2008022"/>
            <a:ext cx="5897880" cy="7315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TextBox 98"/>
          <p:cNvSpPr txBox="1"/>
          <p:nvPr/>
        </p:nvSpPr>
        <p:spPr>
          <a:xfrm>
            <a:off x="310896" y="2029968"/>
            <a:ext cx="225856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Code re-checks every claim before display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624327" y="2029968"/>
            <a:ext cx="83210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n/a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493008" y="2029968"/>
            <a:ext cx="83210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n/a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361688" y="2029968"/>
            <a:ext cx="83210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230368" y="2029968"/>
            <a:ext cx="92354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15803D"/>
                </a:solidFill>
                <a:latin typeface="Arial"/>
                <a:ea typeface="Arial"/>
                <a:cs typeface="Arial"/>
                <a:sym typeface="Arial"/>
              </a:rPr>
              <a:t>Yes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74320" y="2337206"/>
            <a:ext cx="5897880" cy="7315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310896" y="2359152"/>
            <a:ext cx="225856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Safety steps quoted verbatim with page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624327" y="2359152"/>
            <a:ext cx="83210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493008" y="2359152"/>
            <a:ext cx="83210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361688" y="2359152"/>
            <a:ext cx="83210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rPr>
              <a:t>Paraphrases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230368" y="2359152"/>
            <a:ext cx="92354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15803D"/>
                </a:solidFill>
                <a:latin typeface="Arial"/>
                <a:ea typeface="Arial"/>
                <a:cs typeface="Arial"/>
                <a:sym typeface="Arial"/>
              </a:rPr>
              <a:t>Yes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274320" y="2666390"/>
            <a:ext cx="5897880" cy="7315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TextBox 110"/>
          <p:cNvSpPr txBox="1"/>
          <p:nvPr/>
        </p:nvSpPr>
        <p:spPr>
          <a:xfrm>
            <a:off x="310896" y="2688336"/>
            <a:ext cx="225856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Drafts action; a human approves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624327" y="2688336"/>
            <a:ext cx="83210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493008" y="2688336"/>
            <a:ext cx="83210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Alerts only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361688" y="2688336"/>
            <a:ext cx="83210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230368" y="2688336"/>
            <a:ext cx="92354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15803D"/>
                </a:solidFill>
                <a:latin typeface="Arial"/>
                <a:ea typeface="Arial"/>
                <a:cs typeface="Arial"/>
                <a:sym typeface="Arial"/>
              </a:rPr>
              <a:t>Yes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274320" y="3154680"/>
            <a:ext cx="5897880" cy="1234440"/>
          </a:xfrm>
          <a:prstGeom prst="roundRect">
            <a:avLst>
              <a:gd name="adj" fmla="val 7407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411479" y="3250692"/>
            <a:ext cx="5623560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“Isn't this just RAG?”  No.</a:t>
            </a:r>
          </a:p>
          <a:p>
            <a:pPr algn="l"/>
            <a:r>
              <a:rPr sz="1000" b="0" i="0">
                <a:solidFill>
                  <a:srgbClr val="E5E7EB"/>
                </a:solidFill>
                <a:latin typeface="Arial"/>
                <a:ea typeface="Arial"/>
                <a:cs typeface="Arial"/>
                <a:sym typeface="Arial"/>
              </a:rPr>
              <a:t>RAG retrieves text and paraphrases it. Andon Agent runs analytics on telemetry and audio, forms competing hypotheses, and every claim cites evidence ids that deterministic code re-runs before a human acts. Measured against one long prompt given the same evidence: </a:t>
            </a:r>
            <a:r>
              <a:rPr sz="1000" b="1" i="0">
                <a:solidFill>
                  <a:srgbClr val="FBBF24"/>
                </a:solidFill>
                <a:latin typeface="Arial"/>
                <a:ea typeface="Arial"/>
                <a:cs typeface="Arial"/>
                <a:sym typeface="Arial"/>
              </a:rPr>
              <a:t>1 of 586 claims unsupported vs 54 of 645.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400800" y="1024128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HOW IT SOLVES THE PROBLEM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400800" y="1261872"/>
            <a:ext cx="24688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spcAft>
                <a:spcPts val="300"/>
              </a:spcAft>
              <a:buClr>
                <a:srgbClr val="0E7490"/>
              </a:buClr>
              <a:buFont typeface="Arial"/>
              <a:buChar char="•"/>
            </a:pPr>
            <a:r>
              <a:rPr sz="95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Works upstream from the alarming station to the real cause</a:t>
            </a:r>
          </a:p>
          <a:p>
            <a:pPr algn="l" marL="146304" indent="-146304">
              <a:spcAft>
                <a:spcPts val="300"/>
              </a:spcAft>
              <a:buClr>
                <a:srgbClr val="0E7490"/>
              </a:buClr>
              <a:buFont typeface="Arial"/>
              <a:buChar char="•"/>
            </a:pPr>
            <a:r>
              <a:rPr sz="95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Fuses telemetry, alarms, shift notes, manuals and machine audio</a:t>
            </a:r>
          </a:p>
          <a:p>
            <a:pPr algn="l" marL="146304" indent="-146304">
              <a:spcAft>
                <a:spcPts val="300"/>
              </a:spcAft>
              <a:buClr>
                <a:srgbClr val="0E7490"/>
              </a:buClr>
              <a:buFont typeface="Arial"/>
              <a:buChar char="•"/>
            </a:pPr>
            <a:r>
              <a:rPr sz="95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Abstains (insufficient evidence) instead of guessing</a:t>
            </a:r>
          </a:p>
          <a:p>
            <a:pPr algn="l" marL="146304" indent="-146304">
              <a:buClr>
                <a:srgbClr val="0E7490"/>
              </a:buClr>
              <a:buFont typeface="Arial"/>
              <a:buChar char="•"/>
            </a:pPr>
            <a:r>
              <a:rPr sz="95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Ends in a draft work order, never an actuator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400800" y="2816352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USP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6400800" y="3063240"/>
            <a:ext cx="2468880" cy="1325880"/>
          </a:xfrm>
          <a:prstGeom prst="roundRect">
            <a:avLst>
              <a:gd name="adj" fmla="val 6896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6510528" y="3140049"/>
            <a:ext cx="2249424" cy="1172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The model never grades itself.</a:t>
            </a:r>
          </a:p>
          <a:p>
            <a:pPr algn="l"/>
            <a:r>
              <a:rPr sz="95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Verifier stress test: 2,778 injected faults, 97.1% caught; without the verifier 0%. Safety text is inserted by code, verbatim.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74320" y="548640"/>
            <a:ext cx="85953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List of features offered by the solution</a:t>
            </a:r>
            <a:r>
              <a:rPr sz="1100" b="0" i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 all built and live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274320" y="1024128"/>
            <a:ext cx="2075688" cy="1005840"/>
          </a:xfrm>
          <a:prstGeom prst="roundRect">
            <a:avLst>
              <a:gd name="adj" fmla="val 7272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365760" y="1115568"/>
            <a:ext cx="237744" cy="237744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8368" y="1106424"/>
            <a:ext cx="16184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Incident console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65760" y="1408176"/>
            <a:ext cx="191109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Line mimic of synthetic Line L1 with utilities rail; stopped station and root cause marked.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441448" y="1024128"/>
            <a:ext cx="2075688" cy="1005840"/>
          </a:xfrm>
          <a:prstGeom prst="roundRect">
            <a:avLst>
              <a:gd name="adj" fmla="val 7272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Oval 92"/>
          <p:cNvSpPr/>
          <p:nvPr/>
        </p:nvSpPr>
        <p:spPr>
          <a:xfrm>
            <a:off x="2532888" y="1115568"/>
            <a:ext cx="237744" cy="237744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825496" y="1106424"/>
            <a:ext cx="16184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Live agent trace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532888" y="1408176"/>
            <a:ext cx="191109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Every plan, tool call and result streams in (SSE), with provenance chips on real signals.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608576" y="1024128"/>
            <a:ext cx="2075688" cy="1005840"/>
          </a:xfrm>
          <a:prstGeom prst="roundRect">
            <a:avLst>
              <a:gd name="adj" fmla="val 7272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Oval 96"/>
          <p:cNvSpPr/>
          <p:nvPr/>
        </p:nvSpPr>
        <p:spPr>
          <a:xfrm>
            <a:off x="4700016" y="1115568"/>
            <a:ext cx="237744" cy="237744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992624" y="1106424"/>
            <a:ext cx="16184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7-step stepper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700016" y="1408176"/>
            <a:ext cx="191109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Stop → Plan → Evidence → Hypotheses → Verify → Work order → You.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775704" y="1024128"/>
            <a:ext cx="2075688" cy="1005840"/>
          </a:xfrm>
          <a:prstGeom prst="roundRect">
            <a:avLst>
              <a:gd name="adj" fmla="val 7272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Oval 100"/>
          <p:cNvSpPr/>
          <p:nvPr/>
        </p:nvSpPr>
        <p:spPr>
          <a:xfrm>
            <a:off x="6867144" y="1115568"/>
            <a:ext cx="237744" cy="237744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159752" y="1106424"/>
            <a:ext cx="16184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Evidence drawer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67144" y="1408176"/>
            <a:ext cx="191109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Click any evidence id: the telemetry window behind the claim is charted (real signal where marked).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274320" y="2139696"/>
            <a:ext cx="2075688" cy="1005840"/>
          </a:xfrm>
          <a:prstGeom prst="roundRect">
            <a:avLst>
              <a:gd name="adj" fmla="val 7272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Oval 104"/>
          <p:cNvSpPr/>
          <p:nvPr/>
        </p:nvSpPr>
        <p:spPr>
          <a:xfrm>
            <a:off x="365760" y="2231136"/>
            <a:ext cx="237744" cy="23774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8368" y="2221992"/>
            <a:ext cx="16184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Deterministic verifier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65760" y="2523744"/>
            <a:ext cx="191109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Code re-checks each claim; rejected ones are struck through with the measured value.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441448" y="2139696"/>
            <a:ext cx="2075688" cy="1005840"/>
          </a:xfrm>
          <a:prstGeom prst="roundRect">
            <a:avLst>
              <a:gd name="adj" fmla="val 7272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Oval 108"/>
          <p:cNvSpPr/>
          <p:nvPr/>
        </p:nvSpPr>
        <p:spPr>
          <a:xfrm>
            <a:off x="2532888" y="2231136"/>
            <a:ext cx="237744" cy="237744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825496" y="2221992"/>
            <a:ext cx="16184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Root cause + actions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532888" y="2523744"/>
            <a:ext cx="191109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Ranked causes citing evidence ids; accept, edit or reject; downtime cost estimate.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608576" y="2139696"/>
            <a:ext cx="2075688" cy="1005840"/>
          </a:xfrm>
          <a:prstGeom prst="roundRect">
            <a:avLst>
              <a:gd name="adj" fmla="val 7272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Oval 112"/>
          <p:cNvSpPr/>
          <p:nvPr/>
        </p:nvSpPr>
        <p:spPr>
          <a:xfrm>
            <a:off x="4700016" y="2231136"/>
            <a:ext cx="237744" cy="23774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992624" y="2221992"/>
            <a:ext cx="16184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Safety-gated work order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700016" y="2523744"/>
            <a:ext cx="191109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LOTO steps verbatim with page numbers; approver name; human approval → mock CMMS.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775704" y="2139696"/>
            <a:ext cx="2075688" cy="1005840"/>
          </a:xfrm>
          <a:prstGeom prst="roundRect">
            <a:avLst>
              <a:gd name="adj" fmla="val 7272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Oval 116"/>
          <p:cNvSpPr/>
          <p:nvPr/>
        </p:nvSpPr>
        <p:spPr>
          <a:xfrm>
            <a:off x="6867144" y="2231136"/>
            <a:ext cx="237744" cy="237744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159752" y="2221992"/>
            <a:ext cx="16184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Multilingual work order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867144" y="2523744"/>
            <a:ext cx="191109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Hindi, Tamil, Bahasa Indonesia, Vietnamese machine translation beside untouched English safety text.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274320" y="3255264"/>
            <a:ext cx="2075688" cy="1005840"/>
          </a:xfrm>
          <a:prstGeom prst="roundRect">
            <a:avLst>
              <a:gd name="adj" fmla="val 7272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Oval 120"/>
          <p:cNvSpPr/>
          <p:nvPr/>
        </p:nvSpPr>
        <p:spPr>
          <a:xfrm>
            <a:off x="365760" y="3346704"/>
            <a:ext cx="237744" cy="237744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58368" y="3337560"/>
            <a:ext cx="16184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Bring your own CSV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65760" y="3639312"/>
            <a:ext cx="191109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Gemini Flash-Lite proposes a column → tag mapping; a human confirms; a normal investigation runs.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441448" y="3255264"/>
            <a:ext cx="2075688" cy="1005840"/>
          </a:xfrm>
          <a:prstGeom prst="roundRect">
            <a:avLst>
              <a:gd name="adj" fmla="val 7272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Oval 124"/>
          <p:cNvSpPr/>
          <p:nvPr/>
        </p:nvSpPr>
        <p:spPr>
          <a:xfrm>
            <a:off x="2532888" y="3346704"/>
            <a:ext cx="237744" cy="237744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825496" y="3337560"/>
            <a:ext cx="16184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Technician view /tech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532888" y="3639312"/>
            <a:ext cx="191109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Phone-first cards, big safety checklist, voice note → structured shift note marked untrusted.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4608576" y="3255264"/>
            <a:ext cx="2075688" cy="1005840"/>
          </a:xfrm>
          <a:prstGeom prst="roundRect">
            <a:avLst>
              <a:gd name="adj" fmla="val 7272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Oval 128"/>
          <p:cNvSpPr/>
          <p:nvPr/>
        </p:nvSpPr>
        <p:spPr>
          <a:xfrm>
            <a:off x="4700016" y="3346704"/>
            <a:ext cx="237744" cy="237744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992624" y="3337560"/>
            <a:ext cx="16184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Replay + per-run cost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700016" y="3639312"/>
            <a:ext cx="191109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Recorded runs replay free for anyone; live runs show tokens and $ per diagnosis.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6775704" y="3255264"/>
            <a:ext cx="2075688" cy="1005840"/>
          </a:xfrm>
          <a:prstGeom prst="roundRect">
            <a:avLst>
              <a:gd name="adj" fmla="val 7272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Oval 132"/>
          <p:cNvSpPr/>
          <p:nvPr/>
        </p:nvSpPr>
        <p:spPr>
          <a:xfrm>
            <a:off x="6867144" y="3346704"/>
            <a:ext cx="237744" cy="237744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159752" y="3337560"/>
            <a:ext cx="16184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/eval page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867144" y="3639312"/>
            <a:ext cx="191109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Committed benchmark results with intervals, inside the app.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74320" y="548640"/>
            <a:ext cx="85953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Process flow diagram</a:t>
            </a:r>
            <a:r>
              <a:rPr sz="1100" b="0" i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 one stopped line, end to end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502920" y="1005840"/>
            <a:ext cx="960120" cy="237744"/>
          </a:xfrm>
          <a:prstGeom prst="roundRect">
            <a:avLst>
              <a:gd name="adj" fmla="val 42307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521208" y="1018641"/>
            <a:ext cx="923544" cy="2121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1  Stop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1463040" y="1124712"/>
            <a:ext cx="228600" cy="0"/>
          </a:xfrm>
          <a:prstGeom prst="line">
            <a:avLst/>
          </a:prstGeom>
          <a:ln w="12700">
            <a:solidFill>
              <a:srgbClr val="D1D5DB"/>
            </a:solidFill>
            <a:tailEnd type="triangle" w="med" len="med"/>
          </a:ln>
        </p:spPr>
      </p:cxnSp>
      <p:sp>
        <p:nvSpPr>
          <p:cNvPr id="99" name="Rounded Rectangle 98"/>
          <p:cNvSpPr/>
          <p:nvPr/>
        </p:nvSpPr>
        <p:spPr>
          <a:xfrm>
            <a:off x="1691640" y="1005840"/>
            <a:ext cx="960120" cy="237744"/>
          </a:xfrm>
          <a:prstGeom prst="roundRect">
            <a:avLst>
              <a:gd name="adj" fmla="val 42307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1709928" y="1018641"/>
            <a:ext cx="923544" cy="2121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2  Plan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2651760" y="1124712"/>
            <a:ext cx="228600" cy="0"/>
          </a:xfrm>
          <a:prstGeom prst="line">
            <a:avLst/>
          </a:prstGeom>
          <a:ln w="12700">
            <a:solidFill>
              <a:srgbClr val="D1D5DB"/>
            </a:solidFill>
            <a:tailEnd type="triangle" w="med" len="med"/>
          </a:ln>
        </p:spPr>
      </p:cxnSp>
      <p:sp>
        <p:nvSpPr>
          <p:cNvPr id="102" name="Rounded Rectangle 101"/>
          <p:cNvSpPr/>
          <p:nvPr/>
        </p:nvSpPr>
        <p:spPr>
          <a:xfrm>
            <a:off x="2880360" y="1005840"/>
            <a:ext cx="960120" cy="237744"/>
          </a:xfrm>
          <a:prstGeom prst="roundRect">
            <a:avLst>
              <a:gd name="adj" fmla="val 42307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2898648" y="1018641"/>
            <a:ext cx="923544" cy="2121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3  Evidence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3840480" y="1124712"/>
            <a:ext cx="228600" cy="0"/>
          </a:xfrm>
          <a:prstGeom prst="line">
            <a:avLst/>
          </a:prstGeom>
          <a:ln w="12700">
            <a:solidFill>
              <a:srgbClr val="D1D5DB"/>
            </a:solidFill>
            <a:tailEnd type="triangle" w="med" len="med"/>
          </a:ln>
        </p:spPr>
      </p:cxnSp>
      <p:sp>
        <p:nvSpPr>
          <p:cNvPr id="105" name="Rounded Rectangle 104"/>
          <p:cNvSpPr/>
          <p:nvPr/>
        </p:nvSpPr>
        <p:spPr>
          <a:xfrm>
            <a:off x="4069080" y="1005840"/>
            <a:ext cx="960120" cy="237744"/>
          </a:xfrm>
          <a:prstGeom prst="roundRect">
            <a:avLst>
              <a:gd name="adj" fmla="val 42307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4087368" y="1018641"/>
            <a:ext cx="923544" cy="2121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4  Hypotheses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5029200" y="1124712"/>
            <a:ext cx="228600" cy="0"/>
          </a:xfrm>
          <a:prstGeom prst="line">
            <a:avLst/>
          </a:prstGeom>
          <a:ln w="12700">
            <a:solidFill>
              <a:srgbClr val="D1D5DB"/>
            </a:solidFill>
            <a:tailEnd type="triangle" w="med" len="med"/>
          </a:ln>
        </p:spPr>
      </p:cxnSp>
      <p:sp>
        <p:nvSpPr>
          <p:cNvPr id="108" name="Rounded Rectangle 107"/>
          <p:cNvSpPr/>
          <p:nvPr/>
        </p:nvSpPr>
        <p:spPr>
          <a:xfrm>
            <a:off x="5257800" y="1005840"/>
            <a:ext cx="960120" cy="237744"/>
          </a:xfrm>
          <a:prstGeom prst="roundRect">
            <a:avLst>
              <a:gd name="adj" fmla="val 42307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TextBox 108"/>
          <p:cNvSpPr txBox="1"/>
          <p:nvPr/>
        </p:nvSpPr>
        <p:spPr>
          <a:xfrm>
            <a:off x="5276088" y="1018641"/>
            <a:ext cx="923544" cy="2121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5  Verify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6217920" y="1124712"/>
            <a:ext cx="228600" cy="0"/>
          </a:xfrm>
          <a:prstGeom prst="line">
            <a:avLst/>
          </a:prstGeom>
          <a:ln w="12700">
            <a:solidFill>
              <a:srgbClr val="D1D5DB"/>
            </a:solidFill>
            <a:tailEnd type="triangle" w="med" len="med"/>
          </a:ln>
        </p:spPr>
      </p:cxnSp>
      <p:sp>
        <p:nvSpPr>
          <p:cNvPr id="111" name="Rounded Rectangle 110"/>
          <p:cNvSpPr/>
          <p:nvPr/>
        </p:nvSpPr>
        <p:spPr>
          <a:xfrm>
            <a:off x="6446520" y="1005840"/>
            <a:ext cx="960120" cy="237744"/>
          </a:xfrm>
          <a:prstGeom prst="roundRect">
            <a:avLst>
              <a:gd name="adj" fmla="val 42307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6464807" y="1018641"/>
            <a:ext cx="923544" cy="2121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6  Work order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7406640" y="1124712"/>
            <a:ext cx="228600" cy="0"/>
          </a:xfrm>
          <a:prstGeom prst="line">
            <a:avLst/>
          </a:prstGeom>
          <a:ln w="12700">
            <a:solidFill>
              <a:srgbClr val="D1D5DB"/>
            </a:solidFill>
            <a:tailEnd type="triangle" w="med" len="med"/>
          </a:ln>
        </p:spPr>
      </p:cxnSp>
      <p:sp>
        <p:nvSpPr>
          <p:cNvPr id="114" name="Rounded Rectangle 113"/>
          <p:cNvSpPr/>
          <p:nvPr/>
        </p:nvSpPr>
        <p:spPr>
          <a:xfrm>
            <a:off x="7635240" y="1005840"/>
            <a:ext cx="960120" cy="237744"/>
          </a:xfrm>
          <a:prstGeom prst="roundRect">
            <a:avLst>
              <a:gd name="adj" fmla="val 42307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7653528" y="1018641"/>
            <a:ext cx="923544" cy="2121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7  You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74320" y="1280160"/>
            <a:ext cx="8595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The console's investigation stepper, step by step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74320" y="1874519"/>
            <a:ext cx="1005840" cy="1005840"/>
          </a:xfrm>
          <a:prstGeom prst="roundRect">
            <a:avLst>
              <a:gd name="adj" fmla="val 7272"/>
            </a:avLst>
          </a:prstGeom>
          <a:solidFill>
            <a:srgbClr val="FEE2E2"/>
          </a:solidFill>
          <a:ln w="1587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338328" y="1929384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Line stops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38328" y="2148839"/>
            <a:ext cx="87782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andon alarm at a station (e.g. ST20 weld cell)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1280160" y="2377440"/>
            <a:ext cx="182880" cy="0"/>
          </a:xfrm>
          <a:prstGeom prst="line">
            <a:avLst/>
          </a:prstGeom>
          <a:ln w="15875">
            <a:solidFill>
              <a:srgbClr val="4B5563"/>
            </a:solidFill>
            <a:tailEnd type="triangle" w="med" len="med"/>
          </a:ln>
        </p:spPr>
      </p:cxnSp>
      <p:sp>
        <p:nvSpPr>
          <p:cNvPr id="121" name="Rounded Rectangle 120"/>
          <p:cNvSpPr/>
          <p:nvPr/>
        </p:nvSpPr>
        <p:spPr>
          <a:xfrm>
            <a:off x="1463040" y="1783080"/>
            <a:ext cx="13716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5875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1527048" y="1837943"/>
            <a:ext cx="124358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Incident Commander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527048" y="2057400"/>
            <a:ext cx="1243584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reads the stop, lists assets upstream, plans competing checks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1527048" y="2743200"/>
            <a:ext cx="1243584" cy="173736"/>
          </a:xfrm>
          <a:prstGeom prst="roundRect">
            <a:avLst>
              <a:gd name="adj" fmla="val 50000"/>
            </a:avLst>
          </a:prstGeom>
          <a:solidFill>
            <a:srgbClr val="E3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TextBox 124"/>
          <p:cNvSpPr txBox="1"/>
          <p:nvPr/>
        </p:nvSpPr>
        <p:spPr>
          <a:xfrm>
            <a:off x="1545336" y="2756001"/>
            <a:ext cx="1207007" cy="148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Gemini 3.8 Flash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2834640" y="2377440"/>
            <a:ext cx="182880" cy="0"/>
          </a:xfrm>
          <a:prstGeom prst="line">
            <a:avLst/>
          </a:prstGeom>
          <a:ln w="15875">
            <a:solidFill>
              <a:srgbClr val="4B5563"/>
            </a:solidFill>
            <a:tailEnd type="triangle" w="med" len="med"/>
          </a:ln>
        </p:spPr>
      </p:cxnSp>
      <p:sp>
        <p:nvSpPr>
          <p:cNvPr id="127" name="Rounded Rectangle 126"/>
          <p:cNvSpPr/>
          <p:nvPr/>
        </p:nvSpPr>
        <p:spPr>
          <a:xfrm>
            <a:off x="3017520" y="1554480"/>
            <a:ext cx="1920240" cy="1645920"/>
          </a:xfrm>
          <a:prstGeom prst="roundRect">
            <a:avLst>
              <a:gd name="adj" fmla="val 4444"/>
            </a:avLst>
          </a:prstGeom>
          <a:noFill/>
          <a:ln w="9525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3017520" y="1581912"/>
            <a:ext cx="1920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1" i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IN PARALLEL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3090672" y="1746504"/>
            <a:ext cx="1773936" cy="676656"/>
          </a:xfrm>
          <a:prstGeom prst="roundRect">
            <a:avLst>
              <a:gd name="adj" fmla="val 10810"/>
            </a:avLst>
          </a:prstGeom>
          <a:solidFill>
            <a:srgbClr val="FFFFFF"/>
          </a:solidFill>
          <a:ln w="15875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3154679" y="1801368"/>
            <a:ext cx="16459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Signal Analyst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154679" y="2020824"/>
            <a:ext cx="164591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change points, spectrum, anomaly score, listen() on machine audio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3090672" y="2478024"/>
            <a:ext cx="1773936" cy="676656"/>
          </a:xfrm>
          <a:prstGeom prst="roundRect">
            <a:avLst>
              <a:gd name="adj" fmla="val 10810"/>
            </a:avLst>
          </a:prstGeom>
          <a:solidFill>
            <a:srgbClr val="FFFFFF"/>
          </a:solidFill>
          <a:ln w="15875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TextBox 132"/>
          <p:cNvSpPr txBox="1"/>
          <p:nvPr/>
        </p:nvSpPr>
        <p:spPr>
          <a:xfrm>
            <a:off x="3154679" y="2532888"/>
            <a:ext cx="16459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Evidence Librarian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154679" y="2752344"/>
            <a:ext cx="164591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alarms, shift notes, work orders (SQL); manual citations (context cache)</a:t>
            </a:r>
          </a:p>
        </p:txBody>
      </p:sp>
      <p:cxnSp>
        <p:nvCxnSpPr>
          <p:cNvPr id="135" name="Connector 134"/>
          <p:cNvCxnSpPr/>
          <p:nvPr/>
        </p:nvCxnSpPr>
        <p:spPr>
          <a:xfrm>
            <a:off x="4937760" y="2377440"/>
            <a:ext cx="182880" cy="0"/>
          </a:xfrm>
          <a:prstGeom prst="line">
            <a:avLst/>
          </a:prstGeom>
          <a:ln w="15875">
            <a:solidFill>
              <a:srgbClr val="4B5563"/>
            </a:solidFill>
            <a:tailEnd type="triangle" w="med" len="med"/>
          </a:ln>
        </p:spPr>
      </p:cxnSp>
      <p:sp>
        <p:nvSpPr>
          <p:cNvPr id="136" name="Rounded Rectangle 135"/>
          <p:cNvSpPr/>
          <p:nvPr/>
        </p:nvSpPr>
        <p:spPr>
          <a:xfrm>
            <a:off x="5120640" y="1783080"/>
            <a:ext cx="141732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5875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TextBox 136"/>
          <p:cNvSpPr txBox="1"/>
          <p:nvPr/>
        </p:nvSpPr>
        <p:spPr>
          <a:xfrm>
            <a:off x="5184648" y="1837943"/>
            <a:ext cx="128930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RCA Judge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184648" y="2057400"/>
            <a:ext cx="1289304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ranks causes; every claim cites evidence ids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184648" y="2743200"/>
            <a:ext cx="1289304" cy="173736"/>
          </a:xfrm>
          <a:prstGeom prst="roundRect">
            <a:avLst>
              <a:gd name="adj" fmla="val 50000"/>
            </a:avLst>
          </a:prstGeom>
          <a:solidFill>
            <a:srgbClr val="E3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5202936" y="2756001"/>
            <a:ext cx="1252728" cy="148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Gemini 3.8 Flash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6537960" y="2377440"/>
            <a:ext cx="182880" cy="0"/>
          </a:xfrm>
          <a:prstGeom prst="line">
            <a:avLst/>
          </a:prstGeom>
          <a:ln w="15875">
            <a:solidFill>
              <a:srgbClr val="4B5563"/>
            </a:solidFill>
            <a:tailEnd type="triangle" w="med" len="med"/>
          </a:ln>
        </p:spPr>
      </p:cxnSp>
      <p:sp>
        <p:nvSpPr>
          <p:cNvPr id="142" name="Rounded Rectangle 141"/>
          <p:cNvSpPr/>
          <p:nvPr/>
        </p:nvSpPr>
        <p:spPr>
          <a:xfrm>
            <a:off x="6720840" y="1691640"/>
            <a:ext cx="2148840" cy="1371600"/>
          </a:xfrm>
          <a:prstGeom prst="roundRect">
            <a:avLst>
              <a:gd name="adj" fmla="val 5333"/>
            </a:avLst>
          </a:prstGeom>
          <a:solidFill>
            <a:srgbClr val="DCFCE7"/>
          </a:solidFill>
          <a:ln w="1587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TextBox 142"/>
          <p:cNvSpPr txBox="1"/>
          <p:nvPr/>
        </p:nvSpPr>
        <p:spPr>
          <a:xfrm>
            <a:off x="6784848" y="1746504"/>
            <a:ext cx="2020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5803D"/>
                </a:solidFill>
                <a:latin typeface="Arial"/>
                <a:ea typeface="Arial"/>
                <a:cs typeface="Arial"/>
                <a:sym typeface="Arial"/>
              </a:rPr>
              <a:t>Deterministic Verifier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784848" y="1965960"/>
            <a:ext cx="2020824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code, no LLM: re-runs every number, timestamp, quote, causal order and citation premise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784848" y="2816352"/>
            <a:ext cx="2011680" cy="1737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6803136" y="2829153"/>
            <a:ext cx="1975104" cy="148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15803D"/>
                </a:solidFill>
                <a:latin typeface="Arial"/>
                <a:ea typeface="Arial"/>
                <a:cs typeface="Arial"/>
                <a:sym typeface="Arial"/>
              </a:rPr>
              <a:t>no model · cannot be talked round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6949440" y="3063240"/>
            <a:ext cx="0" cy="228600"/>
          </a:xfrm>
          <a:prstGeom prst="line">
            <a:avLst/>
          </a:prstGeom>
          <a:ln w="15875">
            <a:solidFill>
              <a:srgbClr val="B91C1C"/>
            </a:solidFill>
          </a:ln>
        </p:spPr>
      </p:cxnSp>
      <p:cxnSp>
        <p:nvCxnSpPr>
          <p:cNvPr id="148" name="Connector 147"/>
          <p:cNvCxnSpPr/>
          <p:nvPr/>
        </p:nvCxnSpPr>
        <p:spPr>
          <a:xfrm flipH="1">
            <a:off x="5806440" y="3291840"/>
            <a:ext cx="1143000" cy="0"/>
          </a:xfrm>
          <a:prstGeom prst="line">
            <a:avLst/>
          </a:prstGeom>
          <a:ln w="15875">
            <a:solidFill>
              <a:srgbClr val="B91C1C"/>
            </a:solidFill>
          </a:ln>
        </p:spPr>
      </p:cxnSp>
      <p:cxnSp>
        <p:nvCxnSpPr>
          <p:cNvPr id="149" name="Connector 148"/>
          <p:cNvCxnSpPr/>
          <p:nvPr/>
        </p:nvCxnSpPr>
        <p:spPr>
          <a:xfrm flipV="1">
            <a:off x="5806440" y="2971800"/>
            <a:ext cx="0" cy="320040"/>
          </a:xfrm>
          <a:prstGeom prst="line">
            <a:avLst/>
          </a:prstGeom>
          <a:ln w="15875">
            <a:solidFill>
              <a:srgbClr val="B91C1C"/>
            </a:solidFill>
            <a:tailEnd type="triangle" w="med" len="med"/>
          </a:ln>
        </p:spPr>
      </p:cxnSp>
      <p:sp>
        <p:nvSpPr>
          <p:cNvPr id="150" name="TextBox 149"/>
          <p:cNvSpPr txBox="1"/>
          <p:nvPr/>
        </p:nvSpPr>
        <p:spPr>
          <a:xfrm>
            <a:off x="4983480" y="331927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rPr>
              <a:t>FAIL: rejected claims go back · max 3 loops</a:t>
            </a:r>
          </a:p>
        </p:txBody>
      </p:sp>
      <p:cxnSp>
        <p:nvCxnSpPr>
          <p:cNvPr id="151" name="Connector 150"/>
          <p:cNvCxnSpPr/>
          <p:nvPr/>
        </p:nvCxnSpPr>
        <p:spPr>
          <a:xfrm>
            <a:off x="8321040" y="3063240"/>
            <a:ext cx="0" cy="548640"/>
          </a:xfrm>
          <a:prstGeom prst="line">
            <a:avLst/>
          </a:prstGeom>
          <a:ln w="15875">
            <a:solidFill>
              <a:srgbClr val="15803D"/>
            </a:solidFill>
            <a:tailEnd type="triangle" w="med" len="med"/>
          </a:ln>
        </p:spPr>
      </p:cxnSp>
      <p:sp>
        <p:nvSpPr>
          <p:cNvPr id="152" name="TextBox 151"/>
          <p:cNvSpPr txBox="1"/>
          <p:nvPr/>
        </p:nvSpPr>
        <p:spPr>
          <a:xfrm>
            <a:off x="8366760" y="3291840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15803D"/>
                </a:solidFill>
                <a:latin typeface="Arial"/>
                <a:ea typeface="Arial"/>
                <a:cs typeface="Arial"/>
                <a:sym typeface="Arial"/>
              </a:rPr>
              <a:t>PASS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7223760" y="3611880"/>
            <a:ext cx="16459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TextBox 153"/>
          <p:cNvSpPr txBox="1"/>
          <p:nvPr/>
        </p:nvSpPr>
        <p:spPr>
          <a:xfrm>
            <a:off x="7287768" y="3666744"/>
            <a:ext cx="151790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Action Drafter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7287768" y="3886200"/>
            <a:ext cx="1517904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work order; code inserts each mandatory LOTO step verbatim + page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7287768" y="4297680"/>
            <a:ext cx="1517904" cy="173736"/>
          </a:xfrm>
          <a:prstGeom prst="roundRect">
            <a:avLst>
              <a:gd name="adj" fmla="val 50000"/>
            </a:avLst>
          </a:prstGeom>
          <a:solidFill>
            <a:srgbClr val="E3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TextBox 156"/>
          <p:cNvSpPr txBox="1"/>
          <p:nvPr/>
        </p:nvSpPr>
        <p:spPr>
          <a:xfrm>
            <a:off x="7306056" y="4310481"/>
            <a:ext cx="1481328" cy="148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Gemini 3.8 Flash</a:t>
            </a:r>
          </a:p>
        </p:txBody>
      </p:sp>
      <p:cxnSp>
        <p:nvCxnSpPr>
          <p:cNvPr id="158" name="Connector 157"/>
          <p:cNvCxnSpPr/>
          <p:nvPr/>
        </p:nvCxnSpPr>
        <p:spPr>
          <a:xfrm flipH="1">
            <a:off x="6995160" y="4069080"/>
            <a:ext cx="228600" cy="0"/>
          </a:xfrm>
          <a:prstGeom prst="line">
            <a:avLst/>
          </a:prstGeom>
          <a:ln w="15875">
            <a:solidFill>
              <a:srgbClr val="4B5563"/>
            </a:solidFill>
            <a:tailEnd type="triangle" w="med" len="med"/>
          </a:ln>
        </p:spPr>
      </p:cxnSp>
      <p:sp>
        <p:nvSpPr>
          <p:cNvPr id="159" name="Rounded Rectangle 158"/>
          <p:cNvSpPr/>
          <p:nvPr/>
        </p:nvSpPr>
        <p:spPr>
          <a:xfrm>
            <a:off x="5349240" y="3611880"/>
            <a:ext cx="1645920" cy="9144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5413248" y="3666744"/>
            <a:ext cx="151790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Human approval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413248" y="3886200"/>
            <a:ext cx="1517904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accepts the cause, ticks every LOTO step, enters approver name</a:t>
            </a:r>
          </a:p>
        </p:txBody>
      </p:sp>
      <p:cxnSp>
        <p:nvCxnSpPr>
          <p:cNvPr id="162" name="Connector 161"/>
          <p:cNvCxnSpPr/>
          <p:nvPr/>
        </p:nvCxnSpPr>
        <p:spPr>
          <a:xfrm flipH="1">
            <a:off x="5120640" y="4069080"/>
            <a:ext cx="228600" cy="0"/>
          </a:xfrm>
          <a:prstGeom prst="line">
            <a:avLst/>
          </a:prstGeom>
          <a:ln w="15875">
            <a:solidFill>
              <a:srgbClr val="4B5563"/>
            </a:solidFill>
            <a:tailEnd type="triangle" w="med" len="med"/>
          </a:ln>
        </p:spPr>
      </p:cxnSp>
      <p:sp>
        <p:nvSpPr>
          <p:cNvPr id="163" name="Rounded Rectangle 162"/>
          <p:cNvSpPr/>
          <p:nvPr/>
        </p:nvSpPr>
        <p:spPr>
          <a:xfrm>
            <a:off x="3474720" y="3611880"/>
            <a:ext cx="16459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TextBox 163"/>
          <p:cNvSpPr txBox="1"/>
          <p:nvPr/>
        </p:nvSpPr>
        <p:spPr>
          <a:xfrm>
            <a:off x="3538727" y="3666744"/>
            <a:ext cx="151790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Mock CMMS (Firestore)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538727" y="3886200"/>
            <a:ext cx="1517904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PENDING_APPROVAL → APPROVED; every step in an append-only audit log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274320" y="3611880"/>
            <a:ext cx="2971800" cy="9144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TextBox 166"/>
          <p:cNvSpPr txBox="1"/>
          <p:nvPr/>
        </p:nvSpPr>
        <p:spPr>
          <a:xfrm>
            <a:off x="365760" y="3675888"/>
            <a:ext cx="278892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Guarantees</a:t>
            </a:r>
          </a:p>
          <a:p>
            <a:pPr algn="l" marL="146304" indent="-146304">
              <a:buClr>
                <a:srgbClr val="0E7490"/>
              </a:buClr>
              <a:buFont typeface="Arial"/>
              <a:buChar char="•"/>
            </a:pPr>
            <a:r>
              <a:rPr sz="80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No PLC / SCADA / historian writes; one write tool only</a:t>
            </a:r>
          </a:p>
          <a:p>
            <a:pPr algn="l" marL="146304" indent="-146304">
              <a:buClr>
                <a:srgbClr val="0E7490"/>
              </a:buClr>
              <a:buFont typeface="Arial"/>
              <a:buChar char="•"/>
            </a:pPr>
            <a:r>
              <a:rPr sz="80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Loops exhausted → "insufficient evidence" (abstains)</a:t>
            </a:r>
          </a:p>
          <a:p>
            <a:pPr algn="l" marL="146304" indent="-146304">
              <a:buClr>
                <a:srgbClr val="0E7490"/>
              </a:buClr>
              <a:buFont typeface="Arial"/>
              <a:buChar char="•"/>
            </a:pPr>
            <a:r>
              <a:rPr sz="80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Uploads, shift notes, voice notes treated as untrusted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74320" y="548640"/>
            <a:ext cx="85953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Wireframes / mock</a:t>
            </a:r>
            <a:r>
              <a:rPr sz="1100" b="0" i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 real deployed screens, annotated · live run, 17 Oct 2026</a:t>
            </a:r>
          </a:p>
        </p:txBody>
      </p:sp>
      <p:pic>
        <p:nvPicPr>
          <p:cNvPr id="104" name="Picture 103" descr="L-03-console-verified-root-caus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005840"/>
            <a:ext cx="5532120" cy="3109051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105" name="Oval 104"/>
          <p:cNvSpPr/>
          <p:nvPr/>
        </p:nvSpPr>
        <p:spPr>
          <a:xfrm>
            <a:off x="321411" y="2130588"/>
            <a:ext cx="246888" cy="246888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6" name="Oval 105"/>
          <p:cNvSpPr/>
          <p:nvPr/>
        </p:nvSpPr>
        <p:spPr>
          <a:xfrm>
            <a:off x="1261872" y="1073511"/>
            <a:ext cx="246888" cy="246888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7" name="Oval 106"/>
          <p:cNvSpPr/>
          <p:nvPr/>
        </p:nvSpPr>
        <p:spPr>
          <a:xfrm>
            <a:off x="1261872" y="2814579"/>
            <a:ext cx="246888" cy="246888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08" name="Oval 107"/>
          <p:cNvSpPr/>
          <p:nvPr/>
        </p:nvSpPr>
        <p:spPr>
          <a:xfrm>
            <a:off x="3585362" y="2006226"/>
            <a:ext cx="246888" cy="246888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09" name="Oval 108"/>
          <p:cNvSpPr/>
          <p:nvPr/>
        </p:nvSpPr>
        <p:spPr>
          <a:xfrm>
            <a:off x="5521604" y="2503674"/>
            <a:ext cx="246888" cy="246888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74320" y="4133179"/>
            <a:ext cx="5532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Live run, 17 Oct 2026 · R002, real MetroPT-3 signals on the synthetic line · 20 tool calls · 8/8 verified · 88% at UT-AIR</a:t>
            </a:r>
          </a:p>
        </p:txBody>
      </p:sp>
      <p:sp>
        <p:nvSpPr>
          <p:cNvPr id="111" name="Oval 110"/>
          <p:cNvSpPr/>
          <p:nvPr/>
        </p:nvSpPr>
        <p:spPr>
          <a:xfrm>
            <a:off x="5989320" y="1024128"/>
            <a:ext cx="246888" cy="246888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327648" y="1005840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Investigation stepper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327648" y="1188720"/>
            <a:ext cx="1554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Stop → Plan → Evidence → Hypotheses → Verify → Work order → You</a:t>
            </a:r>
          </a:p>
        </p:txBody>
      </p:sp>
      <p:sp>
        <p:nvSpPr>
          <p:cNvPr id="114" name="Oval 113"/>
          <p:cNvSpPr/>
          <p:nvPr/>
        </p:nvSpPr>
        <p:spPr>
          <a:xfrm>
            <a:off x="5989320" y="1572768"/>
            <a:ext cx="246888" cy="246888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327648" y="1554480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Status strip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327648" y="1737360"/>
            <a:ext cx="1554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downtime estimate (labelled assumption), claims verified, confidence</a:t>
            </a:r>
          </a:p>
        </p:txBody>
      </p:sp>
      <p:sp>
        <p:nvSpPr>
          <p:cNvPr id="117" name="Oval 116"/>
          <p:cNvSpPr/>
          <p:nvPr/>
        </p:nvSpPr>
        <p:spPr>
          <a:xfrm>
            <a:off x="5989320" y="2121408"/>
            <a:ext cx="246888" cy="246888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327648" y="2103120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Line mimic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327648" y="2286000"/>
            <a:ext cx="1554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stopped station red, root cause on the utilities rail</a:t>
            </a:r>
          </a:p>
        </p:txBody>
      </p:sp>
      <p:sp>
        <p:nvSpPr>
          <p:cNvPr id="120" name="Oval 119"/>
          <p:cNvSpPr/>
          <p:nvPr/>
        </p:nvSpPr>
        <p:spPr>
          <a:xfrm>
            <a:off x="5989320" y="2670048"/>
            <a:ext cx="246888" cy="246888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327648" y="2651760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Live agent trace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327648" y="2834640"/>
            <a:ext cx="1554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tool calls, per-claim verdicts, provenance chips</a:t>
            </a:r>
          </a:p>
        </p:txBody>
      </p:sp>
      <p:sp>
        <p:nvSpPr>
          <p:cNvPr id="123" name="Oval 122"/>
          <p:cNvSpPr/>
          <p:nvPr/>
        </p:nvSpPr>
        <p:spPr>
          <a:xfrm>
            <a:off x="5989320" y="3218688"/>
            <a:ext cx="246888" cy="246888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327648" y="3200400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Verified root cause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327648" y="3383280"/>
            <a:ext cx="1554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cause, asset, confidence, ranked hypotheses</a:t>
            </a:r>
          </a:p>
        </p:txBody>
      </p:sp>
      <p:pic>
        <p:nvPicPr>
          <p:cNvPr id="126" name="Picture 125" descr="49-deployed-tech-root-caus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73568" y="1005840"/>
            <a:ext cx="929567" cy="2011680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127" name="TextBox 126"/>
          <p:cNvSpPr txBox="1"/>
          <p:nvPr/>
        </p:nvSpPr>
        <p:spPr>
          <a:xfrm>
            <a:off x="7936992" y="305409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Technician view /tech (phone)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989320" y="3794760"/>
            <a:ext cx="1874519" cy="777240"/>
          </a:xfrm>
          <a:prstGeom prst="roundRect">
            <a:avLst>
              <a:gd name="adj" fmla="val 9411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6062472" y="3845966"/>
            <a:ext cx="1728216" cy="6748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Layout logic</a:t>
            </a:r>
          </a:p>
          <a:p>
            <a:pPr algn="l"/>
            <a:r>
              <a:rPr sz="8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Left: where. Middle: how the agents got there. Right: what to do, and what a human must approve.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936992" y="3429000"/>
            <a:ext cx="1005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One card at a time: cause → safety checklist → approve, voice note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74320" y="548640"/>
            <a:ext cx="85953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Architecture diagram</a:t>
            </a:r>
            <a:r>
              <a:rPr sz="1100" b="0" i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 Google Cloud, asia-south1 · Gemini on the global endpoint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274320" y="1051560"/>
            <a:ext cx="1371600" cy="685800"/>
          </a:xfrm>
          <a:prstGeom prst="roundRect">
            <a:avLst>
              <a:gd name="adj" fmla="val 9333"/>
            </a:avLst>
          </a:prstGeom>
          <a:solidFill>
            <a:srgbClr val="F3F4F6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338328" y="1097280"/>
            <a:ext cx="12435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Incident console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38328" y="1289304"/>
            <a:ext cx="1243584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React + Vite + TS; plant engineer, supervisor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274320" y="1874519"/>
            <a:ext cx="1371600" cy="685800"/>
          </a:xfrm>
          <a:prstGeom prst="roundRect">
            <a:avLst>
              <a:gd name="adj" fmla="val 9333"/>
            </a:avLst>
          </a:prstGeom>
          <a:solidFill>
            <a:srgbClr val="F3F4F6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338328" y="1920239"/>
            <a:ext cx="12435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Technician /tech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38328" y="2112263"/>
            <a:ext cx="1243584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phone view, voice notes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74320" y="2697480"/>
            <a:ext cx="1371600" cy="594360"/>
          </a:xfrm>
          <a:prstGeom prst="roundRect">
            <a:avLst>
              <a:gd name="adj" fmla="val 10769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TextBox 118"/>
          <p:cNvSpPr txBox="1"/>
          <p:nvPr/>
        </p:nvSpPr>
        <p:spPr>
          <a:xfrm>
            <a:off x="338328" y="2743200"/>
            <a:ext cx="12435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A73E8"/>
                </a:solidFill>
                <a:latin typeface="Arial"/>
                <a:ea typeface="Arial"/>
                <a:cs typeface="Arial"/>
                <a:sym typeface="Arial"/>
              </a:rPr>
              <a:t>Firebase Hosting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38328" y="2935224"/>
            <a:ext cx="124358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serves the SPA (static)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1645920" y="1737360"/>
            <a:ext cx="320040" cy="0"/>
          </a:xfrm>
          <a:prstGeom prst="line">
            <a:avLst/>
          </a:prstGeom>
          <a:ln w="15875">
            <a:solidFill>
              <a:srgbClr val="1A73E8"/>
            </a:solidFill>
            <a:tailEnd type="triangle" w="med" len="med"/>
          </a:ln>
        </p:spPr>
      </p:cxnSp>
      <p:sp>
        <p:nvSpPr>
          <p:cNvPr id="122" name="TextBox 121"/>
          <p:cNvSpPr txBox="1"/>
          <p:nvPr/>
        </p:nvSpPr>
        <p:spPr>
          <a:xfrm>
            <a:off x="1645920" y="1536192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1" i="0">
                <a:solidFill>
                  <a:srgbClr val="1A73E8"/>
                </a:solidFill>
                <a:latin typeface="Arial"/>
                <a:ea typeface="Arial"/>
                <a:cs typeface="Arial"/>
                <a:sym typeface="Arial"/>
              </a:rPr>
              <a:t>SSE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965960" y="1005840"/>
            <a:ext cx="4160520" cy="2514600"/>
          </a:xfrm>
          <a:prstGeom prst="roundRect">
            <a:avLst>
              <a:gd name="adj" fmla="val 2181"/>
            </a:avLst>
          </a:prstGeom>
          <a:solidFill>
            <a:srgbClr val="F8FAFC"/>
          </a:solidFill>
          <a:ln w="1587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2057400" y="1042415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A73E8"/>
                </a:solidFill>
                <a:latin typeface="Arial"/>
                <a:ea typeface="Arial"/>
                <a:cs typeface="Arial"/>
                <a:sym typeface="Arial"/>
              </a:rPr>
              <a:t>Cloud Run · andon-api (FastAPI, SSE, ADK runner)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057400" y="1234440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/investigate (live | replay) · /approve · /uploads · /voice-note · /work-order?lang · /health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2057400" y="1508760"/>
            <a:ext cx="914400" cy="329184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TextBox 126"/>
          <p:cNvSpPr txBox="1"/>
          <p:nvPr/>
        </p:nvSpPr>
        <p:spPr>
          <a:xfrm>
            <a:off x="2057400" y="1508760"/>
            <a:ext cx="9144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Commander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3246120" y="1463040"/>
            <a:ext cx="1097280" cy="329184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3246120" y="1463040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Signal Analyst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3246120" y="1874519"/>
            <a:ext cx="1097280" cy="329184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TextBox 130"/>
          <p:cNvSpPr txBox="1"/>
          <p:nvPr/>
        </p:nvSpPr>
        <p:spPr>
          <a:xfrm>
            <a:off x="3246120" y="1874519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Evidence Librarian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4526280" y="1664208"/>
            <a:ext cx="1097280" cy="329184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TextBox 132"/>
          <p:cNvSpPr txBox="1"/>
          <p:nvPr/>
        </p:nvSpPr>
        <p:spPr>
          <a:xfrm>
            <a:off x="4526280" y="1664208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RCA Judge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4526280" y="2304288"/>
            <a:ext cx="1097280" cy="329184"/>
          </a:xfrm>
          <a:prstGeom prst="roundRect">
            <a:avLst>
              <a:gd name="adj" fmla="val 16666"/>
            </a:avLst>
          </a:prstGeom>
          <a:solidFill>
            <a:srgbClr val="DCFCE7"/>
          </a:solidFill>
          <a:ln w="1270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TextBox 134"/>
          <p:cNvSpPr txBox="1"/>
          <p:nvPr/>
        </p:nvSpPr>
        <p:spPr>
          <a:xfrm>
            <a:off x="4526280" y="2304288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15803D"/>
                </a:solidFill>
                <a:latin typeface="Arial"/>
                <a:ea typeface="Arial"/>
                <a:cs typeface="Arial"/>
                <a:sym typeface="Arial"/>
              </a:rPr>
              <a:t>Verifier (code)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3246120" y="2423160"/>
            <a:ext cx="1097280" cy="329184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TextBox 136"/>
          <p:cNvSpPr txBox="1"/>
          <p:nvPr/>
        </p:nvSpPr>
        <p:spPr>
          <a:xfrm>
            <a:off x="3246120" y="2423160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Action Drafter</a:t>
            </a:r>
          </a:p>
        </p:txBody>
      </p:sp>
      <p:cxnSp>
        <p:nvCxnSpPr>
          <p:cNvPr id="138" name="Connector 137"/>
          <p:cNvCxnSpPr/>
          <p:nvPr/>
        </p:nvCxnSpPr>
        <p:spPr>
          <a:xfrm flipV="1">
            <a:off x="2971800" y="1627632"/>
            <a:ext cx="274320" cy="45720"/>
          </a:xfrm>
          <a:prstGeom prst="line">
            <a:avLst/>
          </a:prstGeom>
          <a:ln w="12700">
            <a:solidFill>
              <a:srgbClr val="0E7490"/>
            </a:solidFill>
            <a:tailEnd type="triangle" w="med" len="med"/>
          </a:ln>
        </p:spPr>
      </p:cxnSp>
      <p:cxnSp>
        <p:nvCxnSpPr>
          <p:cNvPr id="139" name="Connector 138"/>
          <p:cNvCxnSpPr/>
          <p:nvPr/>
        </p:nvCxnSpPr>
        <p:spPr>
          <a:xfrm>
            <a:off x="2971800" y="1673352"/>
            <a:ext cx="274320" cy="365760"/>
          </a:xfrm>
          <a:prstGeom prst="line">
            <a:avLst/>
          </a:prstGeom>
          <a:ln w="12700">
            <a:solidFill>
              <a:srgbClr val="0E7490"/>
            </a:solidFill>
            <a:tailEnd type="triangle" w="med" len="med"/>
          </a:ln>
        </p:spPr>
      </p:cxnSp>
      <p:cxnSp>
        <p:nvCxnSpPr>
          <p:cNvPr id="140" name="Connector 139"/>
          <p:cNvCxnSpPr/>
          <p:nvPr/>
        </p:nvCxnSpPr>
        <p:spPr>
          <a:xfrm>
            <a:off x="4343400" y="1627632"/>
            <a:ext cx="182880" cy="155448"/>
          </a:xfrm>
          <a:prstGeom prst="line">
            <a:avLst/>
          </a:prstGeom>
          <a:ln w="12700">
            <a:solidFill>
              <a:srgbClr val="0E7490"/>
            </a:solidFill>
            <a:tailEnd type="triangle" w="med" len="med"/>
          </a:ln>
        </p:spPr>
      </p:cxnSp>
      <p:cxnSp>
        <p:nvCxnSpPr>
          <p:cNvPr id="141" name="Connector 140"/>
          <p:cNvCxnSpPr/>
          <p:nvPr/>
        </p:nvCxnSpPr>
        <p:spPr>
          <a:xfrm flipV="1">
            <a:off x="4343400" y="1874519"/>
            <a:ext cx="182880" cy="164593"/>
          </a:xfrm>
          <a:prstGeom prst="line">
            <a:avLst/>
          </a:prstGeom>
          <a:ln w="12700">
            <a:solidFill>
              <a:srgbClr val="0E7490"/>
            </a:solidFill>
            <a:tailEnd type="triangle" w="med" len="med"/>
          </a:ln>
        </p:spPr>
      </p:cxnSp>
      <p:cxnSp>
        <p:nvCxnSpPr>
          <p:cNvPr id="142" name="Connector 141"/>
          <p:cNvCxnSpPr/>
          <p:nvPr/>
        </p:nvCxnSpPr>
        <p:spPr>
          <a:xfrm>
            <a:off x="4983480" y="1993392"/>
            <a:ext cx="0" cy="310896"/>
          </a:xfrm>
          <a:prstGeom prst="line">
            <a:avLst/>
          </a:prstGeom>
          <a:ln w="12700">
            <a:solidFill>
              <a:srgbClr val="15803D"/>
            </a:solidFill>
            <a:tailEnd type="triangle" w="med" len="med"/>
          </a:ln>
        </p:spPr>
      </p:cxnSp>
      <p:cxnSp>
        <p:nvCxnSpPr>
          <p:cNvPr id="143" name="Connector 142"/>
          <p:cNvCxnSpPr/>
          <p:nvPr/>
        </p:nvCxnSpPr>
        <p:spPr>
          <a:xfrm flipV="1">
            <a:off x="5166360" y="1993392"/>
            <a:ext cx="0" cy="310896"/>
          </a:xfrm>
          <a:prstGeom prst="line">
            <a:avLst/>
          </a:prstGeom>
          <a:ln w="12700">
            <a:solidFill>
              <a:srgbClr val="B91C1C"/>
            </a:solidFill>
            <a:tailEnd type="triangle" w="med" len="med"/>
          </a:ln>
        </p:spPr>
      </p:cxnSp>
      <p:sp>
        <p:nvSpPr>
          <p:cNvPr id="144" name="TextBox 143"/>
          <p:cNvSpPr txBox="1"/>
          <p:nvPr/>
        </p:nvSpPr>
        <p:spPr>
          <a:xfrm>
            <a:off x="5650992" y="20116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1" i="0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rPr>
              <a:t>loop ≤3</a:t>
            </a:r>
          </a:p>
        </p:txBody>
      </p:sp>
      <p:cxnSp>
        <p:nvCxnSpPr>
          <p:cNvPr id="145" name="Connector 144"/>
          <p:cNvCxnSpPr/>
          <p:nvPr/>
        </p:nvCxnSpPr>
        <p:spPr>
          <a:xfrm flipH="1">
            <a:off x="4343400" y="2587752"/>
            <a:ext cx="182880" cy="0"/>
          </a:xfrm>
          <a:prstGeom prst="line">
            <a:avLst/>
          </a:prstGeom>
          <a:ln w="12700">
            <a:solidFill>
              <a:srgbClr val="0E7490"/>
            </a:solidFill>
            <a:tailEnd type="triangle" w="med" len="med"/>
          </a:ln>
        </p:spPr>
      </p:cxnSp>
      <p:sp>
        <p:nvSpPr>
          <p:cNvPr id="146" name="TextBox 145"/>
          <p:cNvSpPr txBox="1"/>
          <p:nvPr/>
        </p:nvSpPr>
        <p:spPr>
          <a:xfrm>
            <a:off x="2057400" y="1938528"/>
            <a:ext cx="1143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6 ADK agents</a:t>
            </a:r>
          </a:p>
          <a:p>
            <a:pPr algn="l"/>
            <a:r>
              <a:rPr sz="7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5 on Gemini + 1 deterministic verifier; 11 read-only tools + 1 gated write tool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057400" y="2834640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agents/llm.py gateway: </a:t>
            </a:r>
            <a:r>
              <a:rPr sz="70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every Gemini call logged with tokens and $, daily kill switch, fallback; passcode + per-IP limits; replay = $0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6400800" y="1005840"/>
            <a:ext cx="2468880" cy="1417320"/>
          </a:xfrm>
          <a:prstGeom prst="roundRect">
            <a:avLst>
              <a:gd name="adj" fmla="val 3870"/>
            </a:avLst>
          </a:prstGeom>
          <a:solidFill>
            <a:srgbClr val="FFF7ED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TextBox 148"/>
          <p:cNvSpPr txBox="1"/>
          <p:nvPr/>
        </p:nvSpPr>
        <p:spPr>
          <a:xfrm>
            <a:off x="6473952" y="1042415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Gemini on Vertex AI Agent Platform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6473952" y="1261872"/>
            <a:ext cx="23317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3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gemini-3.8-flash: </a:t>
            </a:r>
            <a:r>
              <a:rPr sz="73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plan, analyse, judge, draft (thinking levels)</a:t>
            </a:r>
          </a:p>
          <a:p>
            <a:pPr algn="l">
              <a:spcAft>
                <a:spcPts val="200"/>
              </a:spcAft>
            </a:pPr>
            <a:r>
              <a:rPr sz="73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gemini-3.1-flash-lite: </a:t>
            </a:r>
            <a:r>
              <a:rPr sz="73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triage, CSV mapping, voice transcription, translation</a:t>
            </a:r>
          </a:p>
          <a:p>
            <a:pPr algn="l">
              <a:spcAft>
                <a:spcPts val="200"/>
              </a:spcAft>
            </a:pPr>
            <a:r>
              <a:rPr sz="73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Explicit context cache: </a:t>
            </a:r>
            <a:r>
              <a:rPr sz="73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5 equipment manuals</a:t>
            </a:r>
          </a:p>
          <a:p>
            <a:pPr algn="l"/>
            <a:r>
              <a:rPr sz="73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Structured output: </a:t>
            </a:r>
            <a:r>
              <a:rPr sz="73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RCAReport, WorkOrder (Pydantic)</a:t>
            </a:r>
          </a:p>
        </p:txBody>
      </p:sp>
      <p:cxnSp>
        <p:nvCxnSpPr>
          <p:cNvPr id="151" name="Connector 150"/>
          <p:cNvCxnSpPr/>
          <p:nvPr/>
        </p:nvCxnSpPr>
        <p:spPr>
          <a:xfrm>
            <a:off x="6126480" y="1691640"/>
            <a:ext cx="274320" cy="0"/>
          </a:xfrm>
          <a:prstGeom prst="line">
            <a:avLst/>
          </a:prstGeom>
          <a:ln w="15875">
            <a:solidFill>
              <a:srgbClr val="B45309"/>
            </a:solidFill>
            <a:tailEnd type="triangle" w="med" len="med"/>
          </a:ln>
        </p:spPr>
      </p:cxnSp>
      <p:sp>
        <p:nvSpPr>
          <p:cNvPr id="152" name="Rounded Rectangle 151"/>
          <p:cNvSpPr/>
          <p:nvPr/>
        </p:nvSpPr>
        <p:spPr>
          <a:xfrm>
            <a:off x="6400800" y="2560320"/>
            <a:ext cx="2468880" cy="566928"/>
          </a:xfrm>
          <a:prstGeom prst="roundRect">
            <a:avLst>
              <a:gd name="adj" fmla="val 1129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6464808" y="2606039"/>
            <a:ext cx="2340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A73E8"/>
                </a:solidFill>
                <a:latin typeface="Arial"/>
                <a:ea typeface="Arial"/>
                <a:cs typeface="Arial"/>
                <a:sym typeface="Arial"/>
              </a:rPr>
              <a:t>Firestore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464808" y="2798063"/>
            <a:ext cx="23408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append-only audit log, mock CMMS work orders, shared daily spend counter, rate limits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400800" y="3218688"/>
            <a:ext cx="2468880" cy="566928"/>
          </a:xfrm>
          <a:prstGeom prst="roundRect">
            <a:avLst>
              <a:gd name="adj" fmla="val 1129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6464808" y="3264408"/>
            <a:ext cx="2340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A73E8"/>
                </a:solidFill>
                <a:latin typeface="Arial"/>
                <a:ea typeface="Arial"/>
                <a:cs typeface="Arial"/>
                <a:sym typeface="Arial"/>
              </a:rPr>
              <a:t>Cloud Storage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464808" y="3456432"/>
            <a:ext cx="23408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per-incident Parquet store, MIMII audio clips, manuals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160520" y="3703320"/>
            <a:ext cx="1965960" cy="566928"/>
          </a:xfrm>
          <a:prstGeom prst="roundRect">
            <a:avLst>
              <a:gd name="adj" fmla="val 1129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TextBox 158"/>
          <p:cNvSpPr txBox="1"/>
          <p:nvPr/>
        </p:nvSpPr>
        <p:spPr>
          <a:xfrm>
            <a:off x="4224528" y="3749039"/>
            <a:ext cx="18379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A73E8"/>
                </a:solidFill>
                <a:latin typeface="Arial"/>
                <a:ea typeface="Arial"/>
                <a:cs typeface="Arial"/>
                <a:sym typeface="Arial"/>
              </a:rPr>
              <a:t>Secret Manager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224528" y="3941063"/>
            <a:ext cx="183794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demo passcode, daily budget; ADC, no keys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1965960" y="3703320"/>
            <a:ext cx="2103120" cy="566928"/>
          </a:xfrm>
          <a:prstGeom prst="roundRect">
            <a:avLst>
              <a:gd name="adj" fmla="val 1129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TextBox 161"/>
          <p:cNvSpPr txBox="1"/>
          <p:nvPr/>
        </p:nvSpPr>
        <p:spPr>
          <a:xfrm>
            <a:off x="2029967" y="3749039"/>
            <a:ext cx="197510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A73E8"/>
                </a:solidFill>
                <a:latin typeface="Arial"/>
                <a:ea typeface="Arial"/>
                <a:cs typeface="Arial"/>
                <a:sym typeface="Arial"/>
              </a:rPr>
              <a:t>BigQuery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029967" y="3941063"/>
            <a:ext cx="197510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provisioned for analytics / eval at scale; not on the live path</a:t>
            </a:r>
          </a:p>
        </p:txBody>
      </p:sp>
      <p:cxnSp>
        <p:nvCxnSpPr>
          <p:cNvPr id="164" name="Connector 163"/>
          <p:cNvCxnSpPr/>
          <p:nvPr/>
        </p:nvCxnSpPr>
        <p:spPr>
          <a:xfrm>
            <a:off x="6126480" y="2834640"/>
            <a:ext cx="274320" cy="0"/>
          </a:xfrm>
          <a:prstGeom prst="line">
            <a:avLst/>
          </a:prstGeom>
          <a:ln w="15875">
            <a:solidFill>
              <a:srgbClr val="1A73E8"/>
            </a:solidFill>
            <a:tailEnd type="triangle" w="med" len="med"/>
          </a:ln>
        </p:spPr>
      </p:cxnSp>
      <p:cxnSp>
        <p:nvCxnSpPr>
          <p:cNvPr id="165" name="Connector 164"/>
          <p:cNvCxnSpPr/>
          <p:nvPr/>
        </p:nvCxnSpPr>
        <p:spPr>
          <a:xfrm>
            <a:off x="6126480" y="3291840"/>
            <a:ext cx="274320" cy="137160"/>
          </a:xfrm>
          <a:prstGeom prst="line">
            <a:avLst/>
          </a:prstGeom>
          <a:ln w="15875">
            <a:solidFill>
              <a:srgbClr val="1A73E8"/>
            </a:solidFill>
            <a:tailEnd type="triangle" w="med" len="med"/>
          </a:ln>
        </p:spPr>
      </p:cxnSp>
      <p:cxnSp>
        <p:nvCxnSpPr>
          <p:cNvPr id="166" name="Connector 165"/>
          <p:cNvCxnSpPr/>
          <p:nvPr/>
        </p:nvCxnSpPr>
        <p:spPr>
          <a:xfrm>
            <a:off x="5120640" y="3520440"/>
            <a:ext cx="0" cy="182880"/>
          </a:xfrm>
          <a:prstGeom prst="line">
            <a:avLst/>
          </a:prstGeom>
          <a:ln w="15875">
            <a:solidFill>
              <a:srgbClr val="1A73E8"/>
            </a:solidFill>
            <a:tailEnd type="triangle" w="med" len="med"/>
          </a:ln>
        </p:spPr>
      </p:cxnSp>
      <p:sp>
        <p:nvSpPr>
          <p:cNvPr id="167" name="TextBox 166"/>
          <p:cNvSpPr txBox="1"/>
          <p:nvPr/>
        </p:nvSpPr>
        <p:spPr>
          <a:xfrm>
            <a:off x="6400800" y="3840480"/>
            <a:ext cx="2468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Live tools query a per-incident DuckDB built from Parquet in Cloud Storage </a:t>
            </a:r>
            <a:r>
              <a:rPr sz="7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(ADR-021).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274320" y="3429000"/>
            <a:ext cx="1600200" cy="1143000"/>
          </a:xfrm>
          <a:prstGeom prst="roundRect">
            <a:avLst>
              <a:gd name="adj" fmla="val 64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9" name="TextBox 168"/>
          <p:cNvSpPr txBox="1"/>
          <p:nvPr/>
        </p:nvSpPr>
        <p:spPr>
          <a:xfrm>
            <a:off x="338328" y="3473805"/>
            <a:ext cx="1472184" cy="1053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Offline data build</a:t>
            </a:r>
          </a:p>
          <a:p>
            <a:pPr algn="l"/>
            <a:r>
              <a:rPr sz="7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Public datasets (MetroPT-3, UCI hydraulic, IMS, MIMII) → synthetic Line L1 + real-signal mapping + provenance → publish</a:t>
            </a:r>
          </a:p>
        </p:txBody>
      </p:sp>
      <p:cxnSp>
        <p:nvCxnSpPr>
          <p:cNvPr id="170" name="Connector 169"/>
          <p:cNvCxnSpPr/>
          <p:nvPr/>
        </p:nvCxnSpPr>
        <p:spPr>
          <a:xfrm>
            <a:off x="1874519" y="3986784"/>
            <a:ext cx="91441" cy="0"/>
          </a:xfrm>
          <a:prstGeom prst="line">
            <a:avLst/>
          </a:prstGeom>
          <a:ln w="15875">
            <a:solidFill>
              <a:srgbClr val="4B5563"/>
            </a:solidFill>
            <a:tailEnd type="triangle" w="med" len="med"/>
          </a:ln>
        </p:spPr>
      </p:cxnSp>
      <p:sp>
        <p:nvSpPr>
          <p:cNvPr id="171" name="TextBox 170"/>
          <p:cNvSpPr txBox="1"/>
          <p:nvPr/>
        </p:nvSpPr>
        <p:spPr>
          <a:xfrm>
            <a:off x="1965960" y="4315968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Deployed via Cloud Build + Artifact Registry. Eval harness calls the same pipeline (eval/run_eval.py).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74320" y="548640"/>
            <a:ext cx="85953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Technologies used in the solution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74320" y="9875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1A73E8"/>
                </a:solidFill>
                <a:latin typeface="Arial"/>
                <a:ea typeface="Arial"/>
                <a:cs typeface="Arial"/>
                <a:sym typeface="Arial"/>
              </a:rPr>
              <a:t>GOOGLE CLOUD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74320" y="1225296"/>
            <a:ext cx="5486400" cy="292608"/>
          </a:xfrm>
          <a:prstGeom prst="roundRect">
            <a:avLst>
              <a:gd name="adj" fmla="val 15625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365760" y="1225296"/>
            <a:ext cx="187451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Gemini 3.8 Flash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240280" y="1225296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Commander, Signal Analyst, Librarian, RCA Judge, Action Drafter; thinking LOW → HIGH by role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74320" y="1554480"/>
            <a:ext cx="5486400" cy="292608"/>
          </a:xfrm>
          <a:prstGeom prst="roundRect">
            <a:avLst>
              <a:gd name="adj" fmla="val 15625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TextBox 124"/>
          <p:cNvSpPr txBox="1"/>
          <p:nvPr/>
        </p:nvSpPr>
        <p:spPr>
          <a:xfrm>
            <a:off x="365760" y="1554480"/>
            <a:ext cx="187451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Gemini 3.1 Flash-Lite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240280" y="1554480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cheap calls: CSV column mapping, voice-note transcription, work-order translation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274320" y="1883664"/>
            <a:ext cx="5486400" cy="292608"/>
          </a:xfrm>
          <a:prstGeom prst="roundRect">
            <a:avLst>
              <a:gd name="adj" fmla="val 15625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365760" y="1883664"/>
            <a:ext cx="187451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Vertex AI Agent Platform + ADK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240280" y="1883664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google-adk graph: Sequential, Parallel and Loop agents; google-genai client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274320" y="2212848"/>
            <a:ext cx="5486400" cy="292608"/>
          </a:xfrm>
          <a:prstGeom prst="roundRect">
            <a:avLst>
              <a:gd name="adj" fmla="val 15625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TextBox 130"/>
          <p:cNvSpPr txBox="1"/>
          <p:nvPr/>
        </p:nvSpPr>
        <p:spPr>
          <a:xfrm>
            <a:off x="365760" y="2212848"/>
            <a:ext cx="187451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Gemini context caching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240280" y="2212848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5 equipment manuals cached once per session, cited by page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274320" y="2542032"/>
            <a:ext cx="5486400" cy="292608"/>
          </a:xfrm>
          <a:prstGeom prst="roundRect">
            <a:avLst>
              <a:gd name="adj" fmla="val 15625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365760" y="2542032"/>
            <a:ext cx="187451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Cloud Run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240280" y="2542032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FastAPI API streaming Server-Sent Events, asia-south1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274320" y="2871215"/>
            <a:ext cx="5486400" cy="292608"/>
          </a:xfrm>
          <a:prstGeom prst="roundRect">
            <a:avLst>
              <a:gd name="adj" fmla="val 15625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TextBox 136"/>
          <p:cNvSpPr txBox="1"/>
          <p:nvPr/>
        </p:nvSpPr>
        <p:spPr>
          <a:xfrm>
            <a:off x="365760" y="2871215"/>
            <a:ext cx="187451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Firebase Hosting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240280" y="2871215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React incident console and /tech technician view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274320" y="3200400"/>
            <a:ext cx="5486400" cy="292608"/>
          </a:xfrm>
          <a:prstGeom prst="roundRect">
            <a:avLst>
              <a:gd name="adj" fmla="val 15625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365760" y="3200400"/>
            <a:ext cx="187451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Firestore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240280" y="3200400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append-only audit, mock CMMS work orders, shared budget counter, rate limits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274320" y="3529584"/>
            <a:ext cx="5486400" cy="292608"/>
          </a:xfrm>
          <a:prstGeom prst="roundRect">
            <a:avLst>
              <a:gd name="adj" fmla="val 15625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TextBox 142"/>
          <p:cNvSpPr txBox="1"/>
          <p:nvPr/>
        </p:nvSpPr>
        <p:spPr>
          <a:xfrm>
            <a:off x="365760" y="3529584"/>
            <a:ext cx="187451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Cloud Storage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240280" y="3529584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per-incident Parquet store, machine audio, manuals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274320" y="3858768"/>
            <a:ext cx="5486400" cy="292608"/>
          </a:xfrm>
          <a:prstGeom prst="roundRect">
            <a:avLst>
              <a:gd name="adj" fmla="val 15625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365760" y="3858768"/>
            <a:ext cx="187451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BigQuery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240280" y="3858768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provisioned for analytics / eval at scale; live tools use DuckDB from GCS Parquet (ADR-021)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274320" y="4187952"/>
            <a:ext cx="5486400" cy="292608"/>
          </a:xfrm>
          <a:prstGeom prst="roundRect">
            <a:avLst>
              <a:gd name="adj" fmla="val 15625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TextBox 148"/>
          <p:cNvSpPr txBox="1"/>
          <p:nvPr/>
        </p:nvSpPr>
        <p:spPr>
          <a:xfrm>
            <a:off x="365760" y="4187952"/>
            <a:ext cx="187451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Secret Manager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240280" y="4187952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passcode and daily budget; service accounts via ADC, no keys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035040" y="987552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GEMINI CAPABILITIES USED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6035040" y="1225296"/>
            <a:ext cx="1371600" cy="384048"/>
          </a:xfrm>
          <a:prstGeom prst="roundRect">
            <a:avLst>
              <a:gd name="adj" fmla="val 2619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6053327" y="1238097"/>
            <a:ext cx="1335024" cy="358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Agentic planning + loop revision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7470648" y="1225296"/>
            <a:ext cx="1371600" cy="384048"/>
          </a:xfrm>
          <a:prstGeom prst="roundRect">
            <a:avLst>
              <a:gd name="adj" fmla="val 2619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TextBox 154"/>
          <p:cNvSpPr txBox="1"/>
          <p:nvPr/>
        </p:nvSpPr>
        <p:spPr>
          <a:xfrm>
            <a:off x="7488936" y="1238097"/>
            <a:ext cx="1335024" cy="358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Function calling: 11 read-only tools, 1 gated write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6035040" y="1682496"/>
            <a:ext cx="1371600" cy="384048"/>
          </a:xfrm>
          <a:prstGeom prst="roundRect">
            <a:avLst>
              <a:gd name="adj" fmla="val 2619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TextBox 156"/>
          <p:cNvSpPr txBox="1"/>
          <p:nvPr/>
        </p:nvSpPr>
        <p:spPr>
          <a:xfrm>
            <a:off x="6053327" y="1695297"/>
            <a:ext cx="1335024" cy="358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Audio understanding: listen() on MIMII clips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7470648" y="1682496"/>
            <a:ext cx="1371600" cy="384048"/>
          </a:xfrm>
          <a:prstGeom prst="roundRect">
            <a:avLst>
              <a:gd name="adj" fmla="val 2619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TextBox 158"/>
          <p:cNvSpPr txBox="1"/>
          <p:nvPr/>
        </p:nvSpPr>
        <p:spPr>
          <a:xfrm>
            <a:off x="7488936" y="1695297"/>
            <a:ext cx="1335024" cy="358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Long context + explicit caching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035040" y="2139696"/>
            <a:ext cx="1371600" cy="384048"/>
          </a:xfrm>
          <a:prstGeom prst="roundRect">
            <a:avLst>
              <a:gd name="adj" fmla="val 2619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6053327" y="2152497"/>
            <a:ext cx="1335024" cy="358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Structured output (response_schema)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7470648" y="2139696"/>
            <a:ext cx="1371600" cy="384048"/>
          </a:xfrm>
          <a:prstGeom prst="roundRect">
            <a:avLst>
              <a:gd name="adj" fmla="val 2619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3" name="TextBox 162"/>
          <p:cNvSpPr txBox="1"/>
          <p:nvPr/>
        </p:nvSpPr>
        <p:spPr>
          <a:xfrm>
            <a:off x="7488936" y="2152497"/>
            <a:ext cx="1335024" cy="358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Thinking levels + cost routing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035040" y="2651760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OPEN-SOURCE STACK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6035040" y="2889504"/>
            <a:ext cx="1371600" cy="237744"/>
          </a:xfrm>
          <a:prstGeom prst="roundRect">
            <a:avLst>
              <a:gd name="adj" fmla="val 42307"/>
            </a:avLst>
          </a:prstGeom>
          <a:solidFill>
            <a:srgbClr val="E3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6" name="TextBox 165"/>
          <p:cNvSpPr txBox="1"/>
          <p:nvPr/>
        </p:nvSpPr>
        <p:spPr>
          <a:xfrm>
            <a:off x="6053327" y="2902305"/>
            <a:ext cx="1335024" cy="2121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Python 3.12 · uv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7470648" y="2889504"/>
            <a:ext cx="1371600" cy="237744"/>
          </a:xfrm>
          <a:prstGeom prst="roundRect">
            <a:avLst>
              <a:gd name="adj" fmla="val 42307"/>
            </a:avLst>
          </a:prstGeom>
          <a:solidFill>
            <a:srgbClr val="E3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TextBox 167"/>
          <p:cNvSpPr txBox="1"/>
          <p:nvPr/>
        </p:nvSpPr>
        <p:spPr>
          <a:xfrm>
            <a:off x="7488936" y="2902305"/>
            <a:ext cx="1335024" cy="2121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FastAPI · SSE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6035040" y="3182112"/>
            <a:ext cx="1371600" cy="237744"/>
          </a:xfrm>
          <a:prstGeom prst="roundRect">
            <a:avLst>
              <a:gd name="adj" fmla="val 42307"/>
            </a:avLst>
          </a:prstGeom>
          <a:solidFill>
            <a:srgbClr val="E3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TextBox 169"/>
          <p:cNvSpPr txBox="1"/>
          <p:nvPr/>
        </p:nvSpPr>
        <p:spPr>
          <a:xfrm>
            <a:off x="6053327" y="3194913"/>
            <a:ext cx="1335024" cy="2121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Pydantic v2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7470648" y="3182112"/>
            <a:ext cx="1371600" cy="237744"/>
          </a:xfrm>
          <a:prstGeom prst="roundRect">
            <a:avLst>
              <a:gd name="adj" fmla="val 42307"/>
            </a:avLst>
          </a:prstGeom>
          <a:solidFill>
            <a:srgbClr val="E3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TextBox 171"/>
          <p:cNvSpPr txBox="1"/>
          <p:nvPr/>
        </p:nvSpPr>
        <p:spPr>
          <a:xfrm>
            <a:off x="7488936" y="3194913"/>
            <a:ext cx="1335024" cy="2121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DuckDB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6035040" y="3474720"/>
            <a:ext cx="1371600" cy="237744"/>
          </a:xfrm>
          <a:prstGeom prst="roundRect">
            <a:avLst>
              <a:gd name="adj" fmla="val 42307"/>
            </a:avLst>
          </a:prstGeom>
          <a:solidFill>
            <a:srgbClr val="E3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TextBox 173"/>
          <p:cNvSpPr txBox="1"/>
          <p:nvPr/>
        </p:nvSpPr>
        <p:spPr>
          <a:xfrm>
            <a:off x="6053327" y="3487521"/>
            <a:ext cx="1335024" cy="2121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React · Vite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7470648" y="3474720"/>
            <a:ext cx="1371600" cy="237744"/>
          </a:xfrm>
          <a:prstGeom prst="roundRect">
            <a:avLst>
              <a:gd name="adj" fmla="val 42307"/>
            </a:avLst>
          </a:prstGeom>
          <a:solidFill>
            <a:srgbClr val="E3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TextBox 175"/>
          <p:cNvSpPr txBox="1"/>
          <p:nvPr/>
        </p:nvSpPr>
        <p:spPr>
          <a:xfrm>
            <a:off x="7488936" y="3487521"/>
            <a:ext cx="1335024" cy="2121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TypeScript · Tailwind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6035040" y="3767328"/>
            <a:ext cx="1371600" cy="237744"/>
          </a:xfrm>
          <a:prstGeom prst="roundRect">
            <a:avLst>
              <a:gd name="adj" fmla="val 42307"/>
            </a:avLst>
          </a:prstGeom>
          <a:solidFill>
            <a:srgbClr val="E3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8" name="TextBox 177"/>
          <p:cNvSpPr txBox="1"/>
          <p:nvPr/>
        </p:nvSpPr>
        <p:spPr>
          <a:xfrm>
            <a:off x="6053327" y="3780129"/>
            <a:ext cx="1335024" cy="2121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pytest · ruff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7470648" y="3767328"/>
            <a:ext cx="1371600" cy="237744"/>
          </a:xfrm>
          <a:prstGeom prst="roundRect">
            <a:avLst>
              <a:gd name="adj" fmla="val 42307"/>
            </a:avLst>
          </a:prstGeom>
          <a:solidFill>
            <a:srgbClr val="E3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0" name="TextBox 179"/>
          <p:cNvSpPr txBox="1"/>
          <p:nvPr/>
        </p:nvSpPr>
        <p:spPr>
          <a:xfrm>
            <a:off x="7488936" y="3780129"/>
            <a:ext cx="1335024" cy="2121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Vitest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6035040" y="411480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Tests run offline with recorded Gemini fixtures; 700+ tests (README).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74320" y="548640"/>
            <a:ext cx="85953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Estimated implementation cost</a:t>
            </a:r>
            <a:r>
              <a:rPr sz="1100" b="0" i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 measured, then a labelled assumption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274320" y="1024128"/>
            <a:ext cx="1719072" cy="1234440"/>
          </a:xfrm>
          <a:prstGeom prst="roundRect">
            <a:avLst>
              <a:gd name="adj" fmla="val 5925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384048" y="1078992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$0.107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84048" y="1554480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Gemini cost per diagnosis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84048" y="1783080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S1 mean, S-set; $0.109 R-set (final_v2)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2103120" y="1024128"/>
            <a:ext cx="1719072" cy="1234440"/>
          </a:xfrm>
          <a:prstGeom prst="roundRect">
            <a:avLst>
              <a:gd name="adj" fmla="val 5925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TextBox 132"/>
          <p:cNvSpPr txBox="1"/>
          <p:nvPr/>
        </p:nvSpPr>
        <p:spPr>
          <a:xfrm>
            <a:off x="2212848" y="1078992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≈ $107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212848" y="1554480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all Gemini spend to build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212848" y="1783080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incl. ≈ $99.8 on evaluation (ledger, Oct 17)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3931920" y="1024128"/>
            <a:ext cx="1719072" cy="1234440"/>
          </a:xfrm>
          <a:prstGeom prst="roundRect">
            <a:avLst>
              <a:gd name="adj" fmla="val 5925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TextBox 136"/>
          <p:cNvSpPr txBox="1"/>
          <p:nvPr/>
        </p:nvSpPr>
        <p:spPr>
          <a:xfrm>
            <a:off x="4041648" y="1078992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$0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041648" y="1554480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per replay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41648" y="1783080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recorded runs never call a model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74320" y="2395728"/>
            <a:ext cx="5394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WHERE A DIAGNOSIS'S MONEY GOES (77 S1 runs, eval/results/final_v2/cost.json)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274320" y="2651760"/>
            <a:ext cx="5304826" cy="292608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Rectangle 141"/>
          <p:cNvSpPr/>
          <p:nvPr/>
        </p:nvSpPr>
        <p:spPr>
          <a:xfrm>
            <a:off x="5579146" y="2651760"/>
            <a:ext cx="90133" cy="29260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TextBox 142"/>
          <p:cNvSpPr txBox="1"/>
          <p:nvPr/>
        </p:nvSpPr>
        <p:spPr>
          <a:xfrm>
            <a:off x="365760" y="2651760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gemini-3.8-flash  $8.14 (98%)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931920" y="2962656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Flash-Lite $0.14 (2%)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74320" y="32461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Voice note → shift note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286000" y="324612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≈ $0.0008 per 21 s clip (ADR-029)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74320" y="3575303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Work-order translation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286000" y="3575303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$0.0020–0.0024 per order, cached (ADR-030)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74320" y="3904487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CSV upload investigation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286000" y="3904487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$0.093 live run (ADR-028)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74320" y="423367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Guard rails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286000" y="423367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$8/day kill switch; $300 total budget to Dec 4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5897880" y="3310128"/>
            <a:ext cx="2971800" cy="960120"/>
          </a:xfrm>
          <a:prstGeom prst="roundRect">
            <a:avLst>
              <a:gd name="adj" fmla="val 7619"/>
            </a:avLst>
          </a:prstGeom>
          <a:solidFill>
            <a:srgbClr val="E3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TextBox 153"/>
          <p:cNvSpPr txBox="1"/>
          <p:nvPr/>
        </p:nvSpPr>
        <p:spPr>
          <a:xfrm>
            <a:off x="6007608" y="3386937"/>
            <a:ext cx="2752344" cy="80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BUILD BUDGET (ledger, DEVELOPMENT.md §7)</a:t>
            </a:r>
          </a:p>
          <a:p>
            <a:pPr algn="l">
              <a:spcAft>
                <a:spcPts val="100"/>
              </a:spcAft>
            </a:pPr>
            <a:r>
              <a:rPr sz="15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$300</a:t>
            </a:r>
            <a:r>
              <a:rPr sz="9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 total to Dec 4</a:t>
            </a:r>
          </a:p>
          <a:p>
            <a:pPr algn="l"/>
            <a:r>
              <a:rPr sz="8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≈ $107 Gemini spent · ≈ $190 left for judging window and finals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5897880" y="1024128"/>
            <a:ext cx="2971800" cy="2194560"/>
          </a:xfrm>
          <a:prstGeom prst="roundRect">
            <a:avLst>
              <a:gd name="adj" fmla="val 3333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6025896" y="1113739"/>
            <a:ext cx="2715768" cy="20153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1" i="0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ASSUMPTION · not measured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Gemini cost for one plant</a:t>
            </a:r>
          </a:p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If a plant runs 1,000 diagnoses a month:</a:t>
            </a:r>
          </a:p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1,000 × $0.107 ≈ $107 / month</a:t>
            </a:r>
          </a:p>
          <a:p>
            <a:pPr algn="l">
              <a:spcAft>
                <a:spcPts val="600"/>
              </a:spcAft>
            </a:pPr>
            <a:r>
              <a:rPr sz="8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Hosting runs on serverless services that scale to zero (Cloud Run, Firebase Hosting, Firestore); our budget sets aside $35 for infrastructure through Dec 4 (allocation, not a bill).</a:t>
            </a:r>
          </a:p>
          <a:p>
            <a:pPr algn="l"/>
            <a:r>
              <a:rPr sz="8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Main levers: replay and caching cost $0; Flash-Lite for cheap steps; the Pro judge was measured worse and dearer ($0.16 vs $0.11 per run) and dropped.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74320" y="548640"/>
            <a:ext cx="85953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Business value &amp; ROI</a:t>
            </a:r>
            <a:r>
              <a:rPr sz="1100" b="0" i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 one sourced number, the rest labelled assumption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274320" y="1051560"/>
            <a:ext cx="1920240" cy="1463040"/>
          </a:xfrm>
          <a:prstGeom prst="roundRect">
            <a:avLst>
              <a:gd name="adj" fmla="val 625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384048" y="111556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FBBF24"/>
                </a:solidFill>
                <a:latin typeface="Arial"/>
                <a:ea typeface="Arial"/>
                <a:cs typeface="Arial"/>
                <a:sym typeface="Arial"/>
              </a:rPr>
              <a:t>$2.3M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84048" y="164592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per hour of downtime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4048" y="192024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D1D5DB"/>
                </a:solidFill>
                <a:latin typeface="Arial"/>
                <a:ea typeface="Arial"/>
                <a:cs typeface="Arial"/>
                <a:sym typeface="Arial"/>
              </a:rPr>
              <a:t>Siemens 2024, p.2 (sourced)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2194560" y="1783080"/>
            <a:ext cx="246888" cy="0"/>
          </a:xfrm>
          <a:prstGeom prst="line">
            <a:avLst/>
          </a:prstGeom>
          <a:ln w="15875">
            <a:solidFill>
              <a:srgbClr val="4B5563"/>
            </a:solidFill>
            <a:tailEnd type="triangle" w="med" len="med"/>
          </a:ln>
        </p:spPr>
      </p:cxnSp>
      <p:sp>
        <p:nvSpPr>
          <p:cNvPr id="93" name="Rounded Rectangle 92"/>
          <p:cNvSpPr/>
          <p:nvPr/>
        </p:nvSpPr>
        <p:spPr>
          <a:xfrm>
            <a:off x="2441448" y="1051560"/>
            <a:ext cx="1920240" cy="1463040"/>
          </a:xfrm>
          <a:prstGeom prst="roundRect">
            <a:avLst>
              <a:gd name="adj" fmla="val 625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2551176" y="111556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$38,333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551176" y="164592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per stopped minute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551176" y="192024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= $2.3M ÷ 60 (arithmetic)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4361688" y="1783080"/>
            <a:ext cx="246888" cy="0"/>
          </a:xfrm>
          <a:prstGeom prst="line">
            <a:avLst/>
          </a:prstGeom>
          <a:ln w="15875">
            <a:solidFill>
              <a:srgbClr val="4B5563"/>
            </a:solidFill>
            <a:tailEnd type="triangle" w="med" len="med"/>
          </a:ln>
        </p:spPr>
      </p:cxnSp>
      <p:sp>
        <p:nvSpPr>
          <p:cNvPr id="98" name="Rounded Rectangle 97"/>
          <p:cNvSpPr/>
          <p:nvPr/>
        </p:nvSpPr>
        <p:spPr>
          <a:xfrm>
            <a:off x="4608576" y="1051560"/>
            <a:ext cx="1920240" cy="1463040"/>
          </a:xfrm>
          <a:prstGeom prst="roundRect">
            <a:avLst>
              <a:gd name="adj" fmla="val 625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TextBox 98"/>
          <p:cNvSpPr txBox="1"/>
          <p:nvPr/>
        </p:nvSpPr>
        <p:spPr>
          <a:xfrm>
            <a:off x="4718304" y="111556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20 min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718304" y="164592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saved per month, per plant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718304" y="192024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ASSUMPTION: 10 diagnosed stops × 2 min faster restart; plant-level rate applied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6528816" y="1783080"/>
            <a:ext cx="246888" cy="0"/>
          </a:xfrm>
          <a:prstGeom prst="line">
            <a:avLst/>
          </a:prstGeom>
          <a:ln w="15875">
            <a:solidFill>
              <a:srgbClr val="4B5563"/>
            </a:solidFill>
            <a:tailEnd type="triangle" w="med" len="med"/>
          </a:ln>
        </p:spPr>
      </p:cxnSp>
      <p:sp>
        <p:nvSpPr>
          <p:cNvPr id="103" name="Rounded Rectangle 102"/>
          <p:cNvSpPr/>
          <p:nvPr/>
        </p:nvSpPr>
        <p:spPr>
          <a:xfrm>
            <a:off x="6775704" y="1051560"/>
            <a:ext cx="1920240" cy="1463040"/>
          </a:xfrm>
          <a:prstGeom prst="roundRect">
            <a:avLst>
              <a:gd name="adj" fmla="val 625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6885432" y="111556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5803D"/>
                </a:solidFill>
                <a:latin typeface="Arial"/>
                <a:ea typeface="Arial"/>
                <a:cs typeface="Arial"/>
                <a:sym typeface="Arial"/>
              </a:rPr>
              <a:t>≈ $0.77M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885432" y="164592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value at stake / month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885432" y="192024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= 20 × $38,333 (assumption-based)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274320" y="2697480"/>
            <a:ext cx="4160520" cy="1143000"/>
          </a:xfrm>
          <a:prstGeom prst="roundRect">
            <a:avLst>
              <a:gd name="adj" fmla="val 64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402336" y="2787091"/>
            <a:ext cx="3904487" cy="9637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Against a cost of</a:t>
            </a:r>
          </a:p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10 × $0.107 ≈ $1.07 / month</a:t>
            </a:r>
          </a:p>
          <a:p>
            <a:pPr algn="l"/>
            <a:r>
              <a:rPr sz="95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One saved minute of downtime pays for about 358,000 diagnoses ($38,333 ÷ $0.107).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4663440" y="2697480"/>
            <a:ext cx="42062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4773168" y="2774289"/>
            <a:ext cx="3986783" cy="989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Value we did not price</a:t>
            </a:r>
          </a:p>
          <a:p>
            <a:pPr algn="l" marL="146304" indent="-146304">
              <a:buClr>
                <a:srgbClr val="0E7490"/>
              </a:buClr>
              <a:buFont typeface="Arial"/>
              <a:buChar char="•"/>
            </a:pPr>
            <a:r>
              <a:rPr sz="88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Safety: LOTO steps verbatim, every step ticked before approval</a:t>
            </a:r>
          </a:p>
          <a:p>
            <a:pPr algn="l" marL="146304" indent="-146304">
              <a:buClr>
                <a:srgbClr val="0E7490"/>
              </a:buClr>
              <a:buFont typeface="Arial"/>
              <a:buChar char="•"/>
            </a:pPr>
            <a:r>
              <a:rPr sz="88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Knowledge capture: every claim, tool call and decision in an audit log</a:t>
            </a:r>
          </a:p>
          <a:p>
            <a:pPr algn="l" marL="146304" indent="-146304">
              <a:buClr>
                <a:srgbClr val="0E7490"/>
              </a:buClr>
              <a:buFont typeface="Arial"/>
              <a:buChar char="•"/>
            </a:pPr>
            <a:r>
              <a:rPr sz="88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JAPAC workforce: work orders in Hindi, Tamil, Bahasa Indonesia, Vietnamese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74320" y="3977639"/>
            <a:ext cx="8595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Honest limit: </a:t>
            </a:r>
            <a:r>
              <a:rPr sz="8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we have not measured time-to-restart in a real plant. The stop rate and minutes saved are illustrative assumptions; a pilot would measure them. Model cost is measured (final_v2).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74320" y="548640"/>
            <a:ext cx="85953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Snapshots of the prototype</a:t>
            </a:r>
            <a:r>
              <a:rPr sz="1100" b="0" i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 deployed app · live run, 17 Oct 2026</a:t>
            </a:r>
          </a:p>
        </p:txBody>
      </p:sp>
      <p:pic>
        <p:nvPicPr>
          <p:cNvPr id="136" name="Picture 135" descr="L-02-console-agents-workin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987552"/>
            <a:ext cx="2743200" cy="1541678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137" name="Rounded Rectangle 136"/>
          <p:cNvSpPr/>
          <p:nvPr/>
        </p:nvSpPr>
        <p:spPr>
          <a:xfrm>
            <a:off x="329184" y="2254910"/>
            <a:ext cx="2633472" cy="219456"/>
          </a:xfrm>
          <a:prstGeom prst="roundRect">
            <a:avLst>
              <a:gd name="adj" fmla="val 20833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365760" y="2254910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Agents calling Gemini live</a:t>
            </a:r>
          </a:p>
        </p:txBody>
      </p:sp>
      <p:pic>
        <p:nvPicPr>
          <p:cNvPr id="139" name="Picture 138" descr="L-04-evidence-drawer-real-telemetry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0" y="987552"/>
            <a:ext cx="2743200" cy="1541678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140" name="Rounded Rectangle 139"/>
          <p:cNvSpPr/>
          <p:nvPr/>
        </p:nvSpPr>
        <p:spPr>
          <a:xfrm>
            <a:off x="3255264" y="2254910"/>
            <a:ext cx="2633472" cy="219456"/>
          </a:xfrm>
          <a:prstGeom prst="roundRect">
            <a:avLst>
              <a:gd name="adj" fmla="val 20833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TextBox 140"/>
          <p:cNvSpPr txBox="1"/>
          <p:nvPr/>
        </p:nvSpPr>
        <p:spPr>
          <a:xfrm>
            <a:off x="3291840" y="2254910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Evidence drawer: real MetroPT-3 window</a:t>
            </a:r>
          </a:p>
        </p:txBody>
      </p:sp>
      <p:pic>
        <p:nvPicPr>
          <p:cNvPr id="142" name="Picture 141" descr="L-05-work-order-hindi-loto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26480" y="987552"/>
            <a:ext cx="2743200" cy="1541678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143" name="Rounded Rectangle 142"/>
          <p:cNvSpPr/>
          <p:nvPr/>
        </p:nvSpPr>
        <p:spPr>
          <a:xfrm>
            <a:off x="6181344" y="2254910"/>
            <a:ext cx="2633472" cy="219456"/>
          </a:xfrm>
          <a:prstGeom prst="roundRect">
            <a:avLst>
              <a:gd name="adj" fmla="val 20833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TextBox 143"/>
          <p:cNvSpPr txBox="1"/>
          <p:nvPr/>
        </p:nvSpPr>
        <p:spPr>
          <a:xfrm>
            <a:off x="6217920" y="2254910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Hindi beside verbatim English LOTO</a:t>
            </a:r>
          </a:p>
        </p:txBody>
      </p:sp>
      <p:pic>
        <p:nvPicPr>
          <p:cNvPr id="145" name="Picture 144" descr="L-06-approved-run-cost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4320" y="2633472"/>
            <a:ext cx="2743200" cy="1541678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146" name="Rounded Rectangle 145"/>
          <p:cNvSpPr/>
          <p:nvPr/>
        </p:nvSpPr>
        <p:spPr>
          <a:xfrm>
            <a:off x="329184" y="3900830"/>
            <a:ext cx="2633472" cy="219456"/>
          </a:xfrm>
          <a:prstGeom prst="roundRect">
            <a:avLst>
              <a:gd name="adj" fmla="val 20833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TextBox 146"/>
          <p:cNvSpPr txBox="1"/>
          <p:nvPr/>
        </p:nvSpPr>
        <p:spPr>
          <a:xfrm>
            <a:off x="365760" y="3900830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Approved to mock CMMS · run cost shown</a:t>
            </a:r>
          </a:p>
        </p:txBody>
      </p:sp>
      <p:pic>
        <p:nvPicPr>
          <p:cNvPr id="148" name="Picture 147" descr="L-08-upload-gemini-mapping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00400" y="2633472"/>
            <a:ext cx="2743200" cy="1541678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149" name="Rounded Rectangle 148"/>
          <p:cNvSpPr/>
          <p:nvPr/>
        </p:nvSpPr>
        <p:spPr>
          <a:xfrm>
            <a:off x="3255264" y="3900830"/>
            <a:ext cx="2633472" cy="219456"/>
          </a:xfrm>
          <a:prstGeom prst="roundRect">
            <a:avLst>
              <a:gd name="adj" fmla="val 20833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3291840" y="3900830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Your CSV: Flash-Lite maps, human confirms</a:t>
            </a:r>
          </a:p>
        </p:txBody>
      </p:sp>
      <p:pic>
        <p:nvPicPr>
          <p:cNvPr id="151" name="Picture 150" descr="L-09-upload-live-verified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26480" y="2633472"/>
            <a:ext cx="2743200" cy="1541678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152" name="Rounded Rectangle 151"/>
          <p:cNvSpPr/>
          <p:nvPr/>
        </p:nvSpPr>
        <p:spPr>
          <a:xfrm>
            <a:off x="6181344" y="3900830"/>
            <a:ext cx="2633472" cy="219456"/>
          </a:xfrm>
          <a:prstGeom prst="roundRect">
            <a:avLst>
              <a:gd name="adj" fmla="val 20833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6217920" y="3900830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Live investigation on that CSV, verified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274320" y="4261104"/>
            <a:ext cx="8595360" cy="329184"/>
          </a:xfrm>
          <a:prstGeom prst="roundRect">
            <a:avLst>
              <a:gd name="adj" fmla="val 22222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TextBox 154"/>
          <p:cNvSpPr txBox="1"/>
          <p:nvPr/>
        </p:nvSpPr>
        <p:spPr>
          <a:xfrm>
            <a:off x="347472" y="4312310"/>
            <a:ext cx="844905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Live run, 17 Oct 2026. </a:t>
            </a:r>
            <a:r>
              <a:rPr sz="80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R002: 20 tool calls, 8/8 claims verified by code, 88% air pressure drop at UT-AIR, 19 LOTO steps, approved; Gemini cost $0.1487.  Upload (upload_air_leak.csv): 23 tool calls, 5/5 verified, 90% at UT-AIR.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74320" y="548640"/>
            <a:ext cx="85953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Prototype performance report / benchmarking</a:t>
            </a:r>
            <a:r>
              <a:rPr sz="1100" b="0" i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 eval run final_v2</a:t>
            </a:r>
          </a:p>
        </p:txBody>
      </p:sp>
      <p:graphicFrame>
        <p:nvGraphicFramePr>
          <p:cNvPr id="144" name="Chart 143"/>
          <p:cNvGraphicFramePr>
            <a:graphicFrameLocks noGrp="1"/>
          </p:cNvGraphicFramePr>
          <p:nvPr/>
        </p:nvGraphicFramePr>
        <p:xfrm>
          <a:off x="274320" y="1143000"/>
          <a:ext cx="4480560" cy="2606040"/>
        </p:xfrm>
        <a:graphic>
          <a:graphicData uri="http://schemas.openxmlformats.org/drawingml/2006/chart">
            <c:chart r:id="rId5"/>
          </a:graphicData>
        </a:graphic>
      </p:graphicFrame>
      <p:sp>
        <p:nvSpPr>
          <p:cNvPr id="145" name="TextBox 144"/>
          <p:cNvSpPr txBox="1"/>
          <p:nvPr/>
        </p:nvSpPr>
        <p:spPr>
          <a:xfrm>
            <a:off x="274320" y="960120"/>
            <a:ext cx="4480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Top-1 root cause (right cause class and asset)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74320" y="3767328"/>
            <a:ext cx="4480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95% Wilson CIs: S1 [0.91, 1.00] / [0.53, 0.90] · B1 [0.82, 0.96] / [0.36, 0.78] · B2 [0.08, 0.26] / [0.10, 0.47]. S2, same pipeline with the verifier always passing: 1.00 / 0.76. Failed runs count as misses.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4983480" y="960120"/>
            <a:ext cx="3886200" cy="1371600"/>
          </a:xfrm>
          <a:prstGeom prst="roundRect">
            <a:avLst>
              <a:gd name="adj" fmla="val 5333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5093208" y="1036929"/>
            <a:ext cx="3666744" cy="12179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15803D"/>
                </a:solidFill>
                <a:latin typeface="Arial"/>
                <a:ea typeface="Arial"/>
                <a:cs typeface="Arial"/>
                <a:sym typeface="Arial"/>
              </a:rPr>
              <a:t>GROUNDING · claims independent code could not back (S + R)</a:t>
            </a:r>
          </a:p>
          <a:p>
            <a:pPr algn="l">
              <a:spcAft>
                <a:spcPts val="100"/>
              </a:spcAft>
            </a:pPr>
            <a:r>
              <a:rPr sz="2200" b="1" i="0">
                <a:solidFill>
                  <a:srgbClr val="15803D"/>
                </a:solidFill>
                <a:latin typeface="Arial"/>
                <a:ea typeface="Arial"/>
                <a:cs typeface="Arial"/>
                <a:sym typeface="Arial"/>
              </a:rPr>
              <a:t>1 / 586</a:t>
            </a:r>
            <a:r>
              <a:rPr sz="10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  0.2%     vs   </a:t>
            </a:r>
            <a:r>
              <a:rPr sz="1600" b="1" i="0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rPr>
              <a:t>54 / 645</a:t>
            </a:r>
            <a:r>
              <a:rPr sz="10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  8.4%</a:t>
            </a:r>
          </a:p>
          <a:p>
            <a:pPr algn="l"/>
            <a:r>
              <a:rPr sz="78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Andon Agent vs single long prompt with the same evidence. No-verifier ablation (S2): 4 / 609. Grounding comes from evidence-id citations plus the verifier; the verifier's own value is the stress test below.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4983480" y="2395728"/>
            <a:ext cx="3886200" cy="1188720"/>
          </a:xfrm>
          <a:prstGeom prst="roundRect">
            <a:avLst>
              <a:gd name="adj" fmla="val 6153"/>
            </a:avLst>
          </a:prstGeom>
          <a:solidFill>
            <a:srgbClr val="E3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5093208" y="2472537"/>
            <a:ext cx="3666744" cy="103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VERIFIER STRESS TEST · offline, $0 (ADR-032)</a:t>
            </a:r>
          </a:p>
          <a:p>
            <a:pPr algn="l">
              <a:spcAft>
                <a:spcPts val="100"/>
              </a:spcAft>
            </a:pPr>
            <a:r>
              <a:rPr sz="220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97.1%</a:t>
            </a:r>
            <a:r>
              <a:rPr sz="9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  caught  [96.4, 97.7]    vs  </a:t>
            </a:r>
            <a:r>
              <a:rPr sz="1600" b="1" i="0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  <a:r>
              <a:rPr sz="9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 with it off</a:t>
            </a:r>
          </a:p>
          <a:p>
            <a:pPr algn="l"/>
            <a:r>
              <a:rPr sz="8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2,778 faults injected into real S1 reports: wrong numbers, timestamps, misquotes, reversed cause and effect, false premises. Weakest: sign flips 92.6%.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983480" y="3657600"/>
            <a:ext cx="3886200" cy="502920"/>
          </a:xfrm>
          <a:prstGeom prst="roundRect">
            <a:avLst>
              <a:gd name="adj" fmla="val 14545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TextBox 151"/>
          <p:cNvSpPr txBox="1"/>
          <p:nvPr/>
        </p:nvSpPr>
        <p:spPr>
          <a:xfrm>
            <a:off x="5074920" y="3721608"/>
            <a:ext cx="3703320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≈ $0.11</a:t>
            </a:r>
            <a:r>
              <a:rPr sz="9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 per diagnosis  ·  </a:t>
            </a:r>
            <a:r>
              <a:rPr sz="13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81 s</a:t>
            </a:r>
            <a:r>
              <a:rPr sz="9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 median (S-set)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274320" y="4206240"/>
            <a:ext cx="8595360" cy="365760"/>
          </a:xfrm>
          <a:prstGeom prst="roundRect">
            <a:avLst>
              <a:gd name="adj" fmla="val 2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TextBox 153"/>
          <p:cNvSpPr txBox="1"/>
          <p:nvPr/>
        </p:nvSpPr>
        <p:spPr>
          <a:xfrm>
            <a:off x="365760" y="4270248"/>
            <a:ext cx="84124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Honest reading: </a:t>
            </a:r>
            <a:r>
              <a:rPr sz="90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top-1 vs the single prompt is not significant (exact McNemar p = 0.219 S-set, 0.375 R-set). </a:t>
            </a:r>
            <a:r>
              <a:rPr sz="9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The win is grounding.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74320" y="548640"/>
            <a:ext cx="85953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Going further: fresh-data test and post-hoc rerun</a:t>
            </a:r>
            <a:r>
              <a:rPr sz="1100" b="0" i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 reported separately from the headline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274320" y="987552"/>
            <a:ext cx="1280160" cy="256032"/>
          </a:xfrm>
          <a:prstGeom prst="roundRect">
            <a:avLst>
              <a:gd name="adj" fmla="val 39285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292608" y="1000353"/>
            <a:ext cx="1243584" cy="2304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POST-HOC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645920" y="978408"/>
            <a:ext cx="7223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Measured after two changes made following the final_v2 eval: a judge rule (R002 was unstable across repeats, ADR-026) and an end-anchored short-shift detector (ADR-033). Run eval/results/posthoc_v4.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74320" y="1371600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384048" y="141732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0.97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84048" y="1828800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S-set top-1, n=60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84048" y="2029968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[0.89, 0.99]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441448" y="1371600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2551176" y="141732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0.82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551176" y="1828800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R-set top-1, n=17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551176" y="2029968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[0.59, 0.94]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608576" y="1371600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4718304" y="141732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0.50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718304" y="1828800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C-set top-1, n=10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718304" y="2029968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[0.24, 0.76]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6775704" y="1371600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6885432" y="141732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0 / 648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885432" y="1828800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unsupported claims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885432" y="2029968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S + R + C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274320" y="2450592"/>
            <a:ext cx="420624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384048" y="2527401"/>
            <a:ext cx="3986783" cy="103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Pre-registered test on fresh data (C-set)</a:t>
            </a:r>
          </a:p>
          <a:p>
            <a:pPr algn="l"/>
            <a:r>
              <a:rPr sz="95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Before running, we fixed 10 new scenarios from unused segments of the real sources and a pass bar (top-1 ≥ 0.6). Result: </a:t>
            </a:r>
            <a:r>
              <a:rPr sz="9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S1 0.40 vs 0.20 for the single prompt,</a:t>
            </a:r>
            <a:r>
              <a:rPr sz="95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 with 0 / 80 unsupported claims vs 6 / 91 on data it had never seen. Below our own 0.6 bar, so we kept going (rerun above).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4663440" y="2450592"/>
            <a:ext cx="4206240" cy="1188720"/>
          </a:xfrm>
          <a:prstGeom prst="roundRect">
            <a:avLst>
              <a:gd name="adj" fmla="val 6153"/>
            </a:avLst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4773168" y="2527401"/>
            <a:ext cx="3986783" cy="103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What we are fixing next</a:t>
            </a:r>
          </a:p>
          <a:p>
            <a:pPr algn="l"/>
            <a:r>
              <a:rPr sz="95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Short real hydraulic faults (R009–R011; C-set 0 / 5). A new detector already reports the shift (7 / 10 on a synthetic dev set, 0 false positives in 8,000+ healthy windows); next, the judge must learn to trust a 0.3–6% change over minutes.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74320" y="3794760"/>
            <a:ext cx="8595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OTHER CHECKS (final eval)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74320" y="4005072"/>
            <a:ext cx="8595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Held-out S051–S060: 10 / 10.  ·  Model choice measured, not assumed: Gemini 3.8 Flash beat 3.1 Pro as judge (S 0.98 vs 0.90, R 0.76 vs 0.71) at two-thirds of the cost per run ($0.11 vs $0.16).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74320" y="548640"/>
            <a:ext cx="85953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Responsible AI &amp; safety</a:t>
            </a:r>
            <a:r>
              <a:rPr sz="1100" b="0" i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 enforced in code and tests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274320" y="1024128"/>
            <a:ext cx="2743200" cy="1417320"/>
          </a:xfrm>
          <a:prstGeom prst="roundRect">
            <a:avLst>
              <a:gd name="adj" fmla="val 5161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384048" y="1133856"/>
            <a:ext cx="274320" cy="27432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49808" y="113385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rPr>
              <a:t>No physical writes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4048" y="1481328"/>
            <a:ext cx="2542032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No tool can write to a PLC, SCADA or historian. The only write tool drafts PENDING_APPROVAL work orders in a mock CMMS; a named human approves.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154679" y="1024128"/>
            <a:ext cx="2743200" cy="1417320"/>
          </a:xfrm>
          <a:prstGeom prst="roundRect">
            <a:avLst>
              <a:gd name="adj" fmla="val 5161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Oval 92"/>
          <p:cNvSpPr/>
          <p:nvPr/>
        </p:nvSpPr>
        <p:spPr>
          <a:xfrm>
            <a:off x="3264408" y="1133856"/>
            <a:ext cx="274320" cy="274320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630168" y="113385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Safety text is verbatim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264408" y="1481328"/>
            <a:ext cx="2542032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Lockout/tagout steps are exact manual quotes with page numbers, inserted by code (ADR-025); structure follows OSHA 29 CFR 1910.147. Translations sit beside, never replace.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035040" y="1024128"/>
            <a:ext cx="2743200" cy="1417320"/>
          </a:xfrm>
          <a:prstGeom prst="roundRect">
            <a:avLst>
              <a:gd name="adj" fmla="val 5161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Oval 96"/>
          <p:cNvSpPr/>
          <p:nvPr/>
        </p:nvSpPr>
        <p:spPr>
          <a:xfrm>
            <a:off x="6144768" y="1133856"/>
            <a:ext cx="274320" cy="274320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510527" y="113385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5803D"/>
                </a:solidFill>
                <a:latin typeface="Arial"/>
                <a:ea typeface="Arial"/>
                <a:cs typeface="Arial"/>
                <a:sym typeface="Arial"/>
              </a:rPr>
              <a:t>Every claim checked by code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144768" y="1481328"/>
            <a:ext cx="2542032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Numbers, timestamps, quotes, causal order and citation premises are re-run. Unverifiable claims are struck through, never dropped.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74320" y="2560320"/>
            <a:ext cx="2743200" cy="1417320"/>
          </a:xfrm>
          <a:prstGeom prst="roundRect">
            <a:avLst>
              <a:gd name="adj" fmla="val 5161"/>
            </a:avLst>
          </a:prstGeom>
          <a:solidFill>
            <a:srgbClr val="E3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Oval 100"/>
          <p:cNvSpPr/>
          <p:nvPr/>
        </p:nvSpPr>
        <p:spPr>
          <a:xfrm>
            <a:off x="384048" y="2670048"/>
            <a:ext cx="274320" cy="274320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49808" y="267004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Untrusted text stays data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84048" y="3017520"/>
            <a:ext cx="2542032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Shift notes, CSV uploads, voice notes and stop text are wrapped as untrusted; voice notes never reach an agent and cannot change a work order.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154679" y="2560320"/>
            <a:ext cx="2743200" cy="1417320"/>
          </a:xfrm>
          <a:prstGeom prst="roundRect">
            <a:avLst>
              <a:gd name="adj" fmla="val 5161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Oval 104"/>
          <p:cNvSpPr/>
          <p:nvPr/>
        </p:nvSpPr>
        <p:spPr>
          <a:xfrm>
            <a:off x="3264408" y="2670048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267004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A73E8"/>
                </a:solidFill>
                <a:latin typeface="Arial"/>
                <a:ea typeface="Arial"/>
                <a:cs typeface="Arial"/>
                <a:sym typeface="Arial"/>
              </a:rPr>
              <a:t>Honest data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264408" y="3017520"/>
            <a:ext cx="2542032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Public datasets under their licences; real signals mapped onto a synthetic line, every real segment carries provenance; the UI shows SYNTHETIC LINE · REAL SIGNALS MARKED.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035040" y="2560320"/>
            <a:ext cx="2743200" cy="1417320"/>
          </a:xfrm>
          <a:prstGeom prst="roundRect">
            <a:avLst>
              <a:gd name="adj" fmla="val 5161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Oval 108"/>
          <p:cNvSpPr/>
          <p:nvPr/>
        </p:nvSpPr>
        <p:spPr>
          <a:xfrm>
            <a:off x="6144768" y="2670048"/>
            <a:ext cx="274320" cy="274320"/>
          </a:xfrm>
          <a:prstGeom prst="ellipse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510527" y="267004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Access, cost, audit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144768" y="3017520"/>
            <a:ext cx="2542032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Live runs need a passcode, per-IP limits, $8/day kill switch; append-only audit of every model call and human action; secrets in Secret Manager.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74320" y="4206240"/>
            <a:ext cx="8595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Residency mode (designed, not deployed): pin Gemini 3.5 Flash to asia-south1 / asia-southeast1 for Indian and Singapore plants. Equipment manuals are fictional, written for this demo.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74320" y="548640"/>
            <a:ext cx="85953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Additional details / future development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74320" y="1005840"/>
            <a:ext cx="2743200" cy="2514600"/>
          </a:xfrm>
          <a:prstGeom prst="roundRect">
            <a:avLst>
              <a:gd name="adj" fmla="val 2909"/>
            </a:avLst>
          </a:prstGeom>
          <a:solidFill>
            <a:srgbClr val="E3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411479" y="1078992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NEXT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11479" y="1298448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Close the known gap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11479" y="1691640"/>
            <a:ext cx="248716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spcAft>
                <a:spcPts val="600"/>
              </a:spcAft>
              <a:buClr>
                <a:srgbClr val="0E7490"/>
              </a:buClr>
              <a:buFont typeface="Arial"/>
              <a:buChar char="•"/>
            </a:pPr>
            <a:r>
              <a:rPr sz="100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Teach the judge to trust the short-shift detector (short real hydraulic faults)</a:t>
            </a:r>
          </a:p>
          <a:p>
            <a:pPr algn="l" marL="146304" indent="-146304">
              <a:spcAft>
                <a:spcPts val="600"/>
              </a:spcAft>
              <a:buClr>
                <a:srgbClr val="0E7490"/>
              </a:buClr>
              <a:buFont typeface="Arial"/>
              <a:buChar char="•"/>
            </a:pPr>
            <a:r>
              <a:rPr sz="100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Historian / OPC UA / MQTT adapters behind the same TelemetryStore interface (CSV upload proves the pattern)</a:t>
            </a:r>
          </a:p>
          <a:p>
            <a:pPr algn="l" marL="146304" indent="-146304">
              <a:spcAft>
                <a:spcPts val="600"/>
              </a:spcAft>
              <a:buClr>
                <a:srgbClr val="0E7490"/>
              </a:buClr>
              <a:buFont typeface="Arial"/>
              <a:buChar char="•"/>
            </a:pPr>
            <a:r>
              <a:rPr sz="100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Residency mode live in asia-south1 / asia-southeast1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3154679" y="1005840"/>
            <a:ext cx="2743200" cy="2514600"/>
          </a:xfrm>
          <a:prstGeom prst="roundRect">
            <a:avLst>
              <a:gd name="adj" fmla="val 2909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TextBox 156"/>
          <p:cNvSpPr txBox="1"/>
          <p:nvPr/>
        </p:nvSpPr>
        <p:spPr>
          <a:xfrm>
            <a:off x="3291839" y="1078992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1A73E8"/>
                </a:solidFill>
                <a:latin typeface="Arial"/>
                <a:ea typeface="Arial"/>
                <a:cs typeface="Arial"/>
                <a:sym typeface="Arial"/>
              </a:rPr>
              <a:t>SCALE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291839" y="1298448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From one line to a plant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291839" y="1691640"/>
            <a:ext cx="248716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spcAft>
                <a:spcPts val="600"/>
              </a:spcAft>
              <a:buClr>
                <a:srgbClr val="1A73E8"/>
              </a:buClr>
              <a:buFont typeface="Arial"/>
              <a:buChar char="•"/>
            </a:pPr>
            <a:r>
              <a:rPr sz="100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Dataproc ingestion for plant-wide history</a:t>
            </a:r>
          </a:p>
          <a:p>
            <a:pPr algn="l" marL="146304" indent="-146304">
              <a:spcAft>
                <a:spcPts val="600"/>
              </a:spcAft>
              <a:buClr>
                <a:srgbClr val="1A73E8"/>
              </a:buClr>
              <a:buFont typeface="Arial"/>
              <a:buChar char="•"/>
            </a:pPr>
            <a:r>
              <a:rPr sz="100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Vector search once work orders pass ~1M (SQL by asset and time today)</a:t>
            </a:r>
          </a:p>
          <a:p>
            <a:pPr algn="l" marL="146304" indent="-146304">
              <a:spcAft>
                <a:spcPts val="600"/>
              </a:spcAft>
              <a:buClr>
                <a:srgbClr val="1A73E8"/>
              </a:buClr>
              <a:buFont typeface="Arial"/>
              <a:buChar char="•"/>
            </a:pPr>
            <a:r>
              <a:rPr sz="100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Gemma 4 at the edge for plants that cannot send data out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035040" y="1005840"/>
            <a:ext cx="2743200" cy="2514600"/>
          </a:xfrm>
          <a:prstGeom prst="roundRect">
            <a:avLst>
              <a:gd name="adj" fmla="val 2909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6172200" y="1078992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PROVE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172200" y="1298448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Pilot and finale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172200" y="1691640"/>
            <a:ext cx="248716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spcAft>
                <a:spcPts val="600"/>
              </a:spcAft>
              <a:buClr>
                <a:srgbClr val="B45309"/>
              </a:buClr>
              <a:buFont typeface="Arial"/>
              <a:buChar char="•"/>
            </a:pPr>
            <a:r>
              <a:rPr sz="100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Pilot with a plant to measure time-to-restart (today an assumption)</a:t>
            </a:r>
          </a:p>
          <a:p>
            <a:pPr algn="l" marL="146304" indent="-146304">
              <a:spcAft>
                <a:spcPts val="600"/>
              </a:spcAft>
              <a:buClr>
                <a:srgbClr val="B45309"/>
              </a:buClr>
              <a:buFont typeface="Arial"/>
              <a:buChar char="•"/>
            </a:pPr>
            <a:r>
              <a:rPr sz="100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More real-signal scenarios graded on source labels</a:t>
            </a:r>
          </a:p>
          <a:p>
            <a:pPr algn="l" marL="146304" indent="-146304">
              <a:spcAft>
                <a:spcPts val="600"/>
              </a:spcAft>
              <a:buClr>
                <a:srgbClr val="B45309"/>
              </a:buClr>
              <a:buFont typeface="Arial"/>
              <a:buChar char="•"/>
            </a:pPr>
            <a:r>
              <a:rPr sz="100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If selected, show it live at the Singapore finale, Dec 4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274320" y="3630168"/>
            <a:ext cx="8595360" cy="502920"/>
          </a:xfrm>
          <a:prstGeom prst="roundRect">
            <a:avLst>
              <a:gd name="adj" fmla="val 14545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5" name="TextBox 164"/>
          <p:cNvSpPr txBox="1"/>
          <p:nvPr/>
        </p:nvSpPr>
        <p:spPr>
          <a:xfrm>
            <a:off x="365760" y="3694176"/>
            <a:ext cx="8412480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1" i="0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rPr>
              <a:t>Known limits today: </a:t>
            </a:r>
            <a:r>
              <a:rPr sz="880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the line is synthetic (real signals mapped onto it); the real-signal set is small (n = 17); translations are machine output, labelled as not binding; uploads are held per instance, so upload mode runs one instance.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74320" y="4206240"/>
            <a:ext cx="8595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Built fresh in the hackathon window: </a:t>
            </a:r>
            <a:r>
              <a:rPr sz="88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dated public commits; 33 architecture decisions logged (docs/DECISIONS.md); 700+ offline tests; every number in this deck traces to a committed results file.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74320" y="548640"/>
            <a:ext cx="85953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Links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274320" y="1051560"/>
            <a:ext cx="8595360" cy="548640"/>
          </a:xfrm>
          <a:prstGeom prst="roundRect">
            <a:avLst>
              <a:gd name="adj" fmla="val 13333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Oval 160"/>
          <p:cNvSpPr/>
          <p:nvPr/>
        </p:nvSpPr>
        <p:spPr>
          <a:xfrm>
            <a:off x="411480" y="1188719"/>
            <a:ext cx="274320" cy="274320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22960" y="105156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GitHub public repository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200400" y="1051560"/>
            <a:ext cx="55778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A73E8"/>
                </a:solidFill>
                <a:latin typeface="Arial"/>
                <a:ea typeface="Arial"/>
                <a:cs typeface="Arial"/>
                <a:sym typeface="Arial"/>
                <a:hlinkClick r:id="rId5"/>
              </a:rPr>
              <a:t>https://github.com/Likhith-BlueLotus/andon-agent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274320" y="1709928"/>
            <a:ext cx="8595360" cy="548640"/>
          </a:xfrm>
          <a:prstGeom prst="roundRect">
            <a:avLst>
              <a:gd name="adj" fmla="val 13333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5" name="Oval 164"/>
          <p:cNvSpPr/>
          <p:nvPr/>
        </p:nvSpPr>
        <p:spPr>
          <a:xfrm>
            <a:off x="411480" y="1847088"/>
            <a:ext cx="274320" cy="274320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2960" y="170992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Demo video (3:29)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200400" y="1709928"/>
            <a:ext cx="55778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rPr>
              <a:t>&lt;YouTube link — added at upload&gt;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274320" y="2368296"/>
            <a:ext cx="8595360" cy="548640"/>
          </a:xfrm>
          <a:prstGeom prst="roundRect">
            <a:avLst>
              <a:gd name="adj" fmla="val 13333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9" name="Oval 168"/>
          <p:cNvSpPr/>
          <p:nvPr/>
        </p:nvSpPr>
        <p:spPr>
          <a:xfrm>
            <a:off x="411480" y="2505456"/>
            <a:ext cx="274320" cy="274320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822960" y="2368296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Final product (live app)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200400" y="2368296"/>
            <a:ext cx="55778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A73E8"/>
                </a:solidFill>
                <a:latin typeface="Arial"/>
                <a:ea typeface="Arial"/>
                <a:cs typeface="Arial"/>
                <a:sym typeface="Arial"/>
                <a:hlinkClick r:id="rId6"/>
              </a:rPr>
              <a:t>https://andon-agent-b9c77.web.app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274320" y="3026664"/>
            <a:ext cx="8595360" cy="548640"/>
          </a:xfrm>
          <a:prstGeom prst="roundRect">
            <a:avLst>
              <a:gd name="adj" fmla="val 13333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Oval 172"/>
          <p:cNvSpPr/>
          <p:nvPr/>
        </p:nvSpPr>
        <p:spPr>
          <a:xfrm>
            <a:off x="411480" y="3163824"/>
            <a:ext cx="274320" cy="274320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822960" y="3026664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API health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200400" y="3026664"/>
            <a:ext cx="55778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A73E8"/>
                </a:solidFill>
                <a:latin typeface="Arial"/>
                <a:ea typeface="Arial"/>
                <a:cs typeface="Arial"/>
                <a:sym typeface="Arial"/>
                <a:hlinkClick r:id="rId7"/>
              </a:rPr>
              <a:t>https://andon-api-359520289475.asia-south1.run.app/health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74320" y="3657600"/>
            <a:ext cx="8595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60-second judge path: </a:t>
            </a:r>
            <a:r>
              <a:rPr sz="95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open the live app → pick R002 · MetroPT-3 compressor (replay) → Investigate stop → click an evidence chip → tick the LOTO steps and approve. Replay S014 shows the verifier rejecting a reversed cause-and-effect claim. Replays need no login; live investigations call Gemini and need the demo passcode.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274320" y="4160520"/>
            <a:ext cx="8595360" cy="384048"/>
          </a:xfrm>
          <a:prstGeom prst="roundRect">
            <a:avLst>
              <a:gd name="adj" fmla="val 19047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8" name="TextBox 177"/>
          <p:cNvSpPr txBox="1"/>
          <p:nvPr/>
        </p:nvSpPr>
        <p:spPr>
          <a:xfrm>
            <a:off x="365760" y="4224528"/>
            <a:ext cx="84124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Theme: </a:t>
            </a:r>
            <a:r>
              <a:rPr sz="90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Manufacturing: Intelligent Operations &amp; Industrial Efficiency</a:t>
            </a:r>
            <a:r>
              <a:rPr sz="9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   ·   code MIT   ·   data sources and licences: data/SOURCES.md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274320" y="548640"/>
            <a:ext cx="8595360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2000" b="1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Built like a product team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274320" y="914400"/>
            <a:ext cx="8595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Two full-stack builders worked through nine role lenses. Each lens is backed by a role-specialised AI review agent (.claude/agents/), and a sceptical judge agent scored us against the rubric.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274320" y="1371600"/>
            <a:ext cx="2743200" cy="804672"/>
          </a:xfrm>
          <a:prstGeom prst="roundRect">
            <a:avLst>
              <a:gd name="adj" fmla="val 909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TextBox 169"/>
          <p:cNvSpPr txBox="1"/>
          <p:nvPr/>
        </p:nvSpPr>
        <p:spPr>
          <a:xfrm>
            <a:off x="384048" y="1435608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Principal Engineer / Architect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84048" y="1673352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Architecture, the three contracts, 33 ADRs, cost and latency budgets, scope cuts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3154679" y="1371600"/>
            <a:ext cx="2743200" cy="804672"/>
          </a:xfrm>
          <a:prstGeom prst="roundRect">
            <a:avLst>
              <a:gd name="adj" fmla="val 909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TextBox 172"/>
          <p:cNvSpPr txBox="1"/>
          <p:nvPr/>
        </p:nvSpPr>
        <p:spPr>
          <a:xfrm>
            <a:off x="3264408" y="1435608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Staff Engineer · agents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264408" y="1673352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ADK graph, prompts, tool wiring, model routing and fallback, verifier loop, context cache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6035040" y="1371600"/>
            <a:ext cx="2743200" cy="804672"/>
          </a:xfrm>
          <a:prstGeom prst="roundRect">
            <a:avLst>
              <a:gd name="adj" fmla="val 909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TextBox 175"/>
          <p:cNvSpPr txBox="1"/>
          <p:nvPr/>
        </p:nvSpPr>
        <p:spPr>
          <a:xfrm>
            <a:off x="6144768" y="1435608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Senior Backend Engineer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144768" y="1673352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FastAPI + SSE, Firestore audit and mock CMMS, replay, passcode, rate limits, kill switch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274320" y="2286000"/>
            <a:ext cx="2743200" cy="804672"/>
          </a:xfrm>
          <a:prstGeom prst="roundRect">
            <a:avLst>
              <a:gd name="adj" fmla="val 909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9" name="TextBox 178"/>
          <p:cNvSpPr txBox="1"/>
          <p:nvPr/>
        </p:nvSpPr>
        <p:spPr>
          <a:xfrm>
            <a:off x="384048" y="2350008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Senior Data &amp; ML Engineer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84048" y="2587752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Dataset fetch and provenance, synthetic line, real-signal mapping, fault injector, signal maths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3154679" y="2286000"/>
            <a:ext cx="2743200" cy="804672"/>
          </a:xfrm>
          <a:prstGeom prst="roundRect">
            <a:avLst>
              <a:gd name="adj" fmla="val 909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2" name="TextBox 181"/>
          <p:cNvSpPr txBox="1"/>
          <p:nvPr/>
        </p:nvSpPr>
        <p:spPr>
          <a:xfrm>
            <a:off x="3264408" y="2350008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SRE / DevOps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264408" y="2587752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GCP bootstrap, IAM, Cloud Run, Firebase Hosting, Secret Manager, budgets, deploy scripts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6035040" y="2286000"/>
            <a:ext cx="2743200" cy="804672"/>
          </a:xfrm>
          <a:prstGeom prst="roundRect">
            <a:avLst>
              <a:gd name="adj" fmla="val 909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5" name="TextBox 184"/>
          <p:cNvSpPr txBox="1"/>
          <p:nvPr/>
        </p:nvSpPr>
        <p:spPr>
          <a:xfrm>
            <a:off x="6144768" y="2350008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UX / UI Engineer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144768" y="2587752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Incident console, trace and provenance chips, evidence drawer, technician view, accessibility</a:t>
            </a:r>
          </a:p>
        </p:txBody>
      </p:sp>
      <p:sp>
        <p:nvSpPr>
          <p:cNvPr id="187" name="Rounded Rectangle 186"/>
          <p:cNvSpPr/>
          <p:nvPr/>
        </p:nvSpPr>
        <p:spPr>
          <a:xfrm>
            <a:off x="274320" y="3200400"/>
            <a:ext cx="2743200" cy="804672"/>
          </a:xfrm>
          <a:prstGeom prst="roundRect">
            <a:avLst>
              <a:gd name="adj" fmla="val 909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8" name="TextBox 187"/>
          <p:cNvSpPr txBox="1"/>
          <p:nvPr/>
        </p:nvSpPr>
        <p:spPr>
          <a:xfrm>
            <a:off x="384048" y="3264408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QA &amp; Eval Engineer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384048" y="3502152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Offline tests with recorded fixtures, eval harness and baselines, Wilson CIs, McNemar, stress test</a:t>
            </a:r>
          </a:p>
        </p:txBody>
      </p:sp>
      <p:sp>
        <p:nvSpPr>
          <p:cNvPr id="190" name="Rounded Rectangle 189"/>
          <p:cNvSpPr/>
          <p:nvPr/>
        </p:nvSpPr>
        <p:spPr>
          <a:xfrm>
            <a:off x="3154679" y="3200400"/>
            <a:ext cx="2743200" cy="804672"/>
          </a:xfrm>
          <a:prstGeom prst="roundRect">
            <a:avLst>
              <a:gd name="adj" fmla="val 909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1" name="TextBox 190"/>
          <p:cNvSpPr txBox="1"/>
          <p:nvPr/>
        </p:nvSpPr>
        <p:spPr>
          <a:xfrm>
            <a:off x="3264408" y="3264408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Security &amp; Responsible-AI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264408" y="3502152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Read-only reviews before each deploy: IAM, secrets, prompt injection, safety rules, licences</a:t>
            </a:r>
          </a:p>
        </p:txBody>
      </p:sp>
      <p:sp>
        <p:nvSpPr>
          <p:cNvPr id="193" name="Rounded Rectangle 192"/>
          <p:cNvSpPr/>
          <p:nvPr/>
        </p:nvSpPr>
        <p:spPr>
          <a:xfrm>
            <a:off x="6035040" y="3200400"/>
            <a:ext cx="2743200" cy="804672"/>
          </a:xfrm>
          <a:prstGeom prst="roundRect">
            <a:avLst>
              <a:gd name="adj" fmla="val 909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4" name="TextBox 193"/>
          <p:cNvSpPr txBox="1"/>
          <p:nvPr/>
        </p:nvSpPr>
        <p:spPr>
          <a:xfrm>
            <a:off x="6144768" y="3264408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E7490"/>
                </a:solidFill>
                <a:latin typeface="Arial"/>
                <a:ea typeface="Arial"/>
                <a:cs typeface="Arial"/>
                <a:sym typeface="Arial"/>
              </a:rPr>
              <a:t>Product &amp; Pitch Lead / BA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6144768" y="3502152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0" i="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Personas, demo script, deck, judge Q&amp;A, ROI assumptions, sourcing of every number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274320" y="4160520"/>
            <a:ext cx="8595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Ownership: </a:t>
            </a:r>
            <a:r>
              <a:rPr sz="880" b="0" i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Person A: agents, backend, infra, eval harness  ·  Person B: data (S-set, R-set), frontend, deck and video.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